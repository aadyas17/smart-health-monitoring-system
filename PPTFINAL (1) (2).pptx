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12192000"/>
  <p:notesSz cx="12192000" cy="6858000"/>
  <p:embeddedFontLst>
    <p:embeddedFont>
      <p:font typeface="Palatino Linotype"/>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06">
          <p15:clr>
            <a:srgbClr val="747775"/>
          </p15:clr>
        </p15:guide>
        <p15:guide id="2" orient="horz" pos="206">
          <p15:clr>
            <a:srgbClr val="747775"/>
          </p15:clr>
        </p15:guide>
        <p15:guide id="3" orient="horz" pos="3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D9A46C-16F7-4A65-BBF8-6DA9B211B52B}">
  <a:tblStyle styleId="{C7D9A46C-16F7-4A65-BBF8-6DA9B211B52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06" orient="horz"/>
        <p:guide pos="206" orient="horz"/>
        <p:guide pos="302"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alatinoLinotype-bold.fntdata"/><Relationship Id="rId25" Type="http://schemas.openxmlformats.org/officeDocument/2006/relationships/font" Target="fonts/PalatinoLinotype-regular.fntdata"/><Relationship Id="rId28" Type="http://schemas.openxmlformats.org/officeDocument/2006/relationships/font" Target="fonts/PalatinoLinotype-boldItalic.fntdata"/><Relationship Id="rId27" Type="http://schemas.openxmlformats.org/officeDocument/2006/relationships/font" Target="fonts/PalatinoLinotype-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283200" cy="344488"/>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 name="Google Shape;4;n"/>
          <p:cNvSpPr txBox="1"/>
          <p:nvPr>
            <p:ph idx="10" type="dt"/>
          </p:nvPr>
        </p:nvSpPr>
        <p:spPr>
          <a:xfrm>
            <a:off x="6905625" y="0"/>
            <a:ext cx="5283200" cy="344488"/>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 name="Google Shape;5;n"/>
          <p:cNvSpPr/>
          <p:nvPr>
            <p:ph idx="3"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5283200" cy="3444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n"/>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t>‹#›</a:t>
            </a:fld>
            <a:endParaRPr sz="12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p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2: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2:notes"/>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1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a2afb863b_0_13:notes"/>
          <p:cNvSpPr/>
          <p:nvPr>
            <p:ph idx="2" type="sldImg"/>
          </p:nvPr>
        </p:nvSpPr>
        <p:spPr>
          <a:xfrm>
            <a:off x="4038600" y="857250"/>
            <a:ext cx="4114800" cy="23145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9a2afb863b_0_13:notes"/>
          <p:cNvSpPr txBox="1"/>
          <p:nvPr>
            <p:ph idx="1" type="body"/>
          </p:nvPr>
        </p:nvSpPr>
        <p:spPr>
          <a:xfrm>
            <a:off x="1219200" y="3300413"/>
            <a:ext cx="97536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g39a2afb863b_0_13:notes"/>
          <p:cNvSpPr txBox="1"/>
          <p:nvPr>
            <p:ph idx="12" type="sldNum"/>
          </p:nvPr>
        </p:nvSpPr>
        <p:spPr>
          <a:xfrm>
            <a:off x="6905625" y="6513513"/>
            <a:ext cx="52833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9a2afb863b_0_28:notes"/>
          <p:cNvSpPr/>
          <p:nvPr>
            <p:ph idx="2" type="sldImg"/>
          </p:nvPr>
        </p:nvSpPr>
        <p:spPr>
          <a:xfrm>
            <a:off x="4038600" y="857250"/>
            <a:ext cx="4114800" cy="23145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9a2afb863b_0_28:notes"/>
          <p:cNvSpPr txBox="1"/>
          <p:nvPr>
            <p:ph idx="1" type="body"/>
          </p:nvPr>
        </p:nvSpPr>
        <p:spPr>
          <a:xfrm>
            <a:off x="1219200" y="3300413"/>
            <a:ext cx="9753600" cy="2700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g39a2afb863b_0_28:notes"/>
          <p:cNvSpPr txBox="1"/>
          <p:nvPr>
            <p:ph idx="12" type="sldNum"/>
          </p:nvPr>
        </p:nvSpPr>
        <p:spPr>
          <a:xfrm>
            <a:off x="6905625" y="6513513"/>
            <a:ext cx="5283300" cy="3444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2"/>
          <p:cNvSpPr txBox="1"/>
          <p:nvPr>
            <p:ph type="title"/>
          </p:nvPr>
        </p:nvSpPr>
        <p:spPr>
          <a:xfrm>
            <a:off x="1349700" y="326641"/>
            <a:ext cx="10254615" cy="5340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2"/>
          <p:cNvSpPr txBox="1"/>
          <p:nvPr>
            <p:ph idx="1" type="body"/>
          </p:nvPr>
        </p:nvSpPr>
        <p:spPr>
          <a:xfrm>
            <a:off x="901718" y="1044459"/>
            <a:ext cx="5309870" cy="41402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0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 name="Google Shape;21;p2"/>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60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
          <p:cNvSpPr txBox="1"/>
          <p:nvPr>
            <p:ph idx="10" type="dt"/>
          </p:nvPr>
        </p:nvSpPr>
        <p:spPr>
          <a:xfrm>
            <a:off x="179689" y="6441110"/>
            <a:ext cx="1124585" cy="2292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60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
          <p:cNvSpPr txBox="1"/>
          <p:nvPr>
            <p:ph idx="12" type="sldNum"/>
          </p:nvPr>
        </p:nvSpPr>
        <p:spPr>
          <a:xfrm>
            <a:off x="11841188" y="6441110"/>
            <a:ext cx="209550" cy="229234"/>
          </a:xfrm>
          <a:prstGeom prst="rect">
            <a:avLst/>
          </a:prstGeom>
          <a:noFill/>
          <a:ln>
            <a:noFill/>
          </a:ln>
        </p:spPr>
        <p:txBody>
          <a:bodyPr anchorCtr="0" anchor="t" bIns="0" lIns="0" spcFirstLastPara="1" rIns="0" wrap="square" tIns="0">
            <a:spAutoFit/>
          </a:bodyPr>
          <a:lstStyle>
            <a:lvl1pPr indent="0" lvl="0" marL="38100">
              <a:lnSpc>
                <a:spcPct val="104000"/>
              </a:lnSpc>
              <a:spcBef>
                <a:spcPts val="0"/>
              </a:spcBef>
              <a:buNone/>
              <a:defRPr b="1" i="0" sz="1600">
                <a:solidFill>
                  <a:srgbClr val="888888"/>
                </a:solidFill>
                <a:latin typeface="Cambria"/>
                <a:ea typeface="Cambria"/>
                <a:cs typeface="Cambria"/>
                <a:sym typeface="Cambria"/>
              </a:defRPr>
            </a:lvl1pPr>
            <a:lvl2pPr indent="0" lvl="1" marL="38100">
              <a:lnSpc>
                <a:spcPct val="104000"/>
              </a:lnSpc>
              <a:spcBef>
                <a:spcPts val="0"/>
              </a:spcBef>
              <a:buNone/>
              <a:defRPr b="1" i="0" sz="1600">
                <a:solidFill>
                  <a:srgbClr val="888888"/>
                </a:solidFill>
                <a:latin typeface="Cambria"/>
                <a:ea typeface="Cambria"/>
                <a:cs typeface="Cambria"/>
                <a:sym typeface="Cambria"/>
              </a:defRPr>
            </a:lvl2pPr>
            <a:lvl3pPr indent="0" lvl="2" marL="38100">
              <a:lnSpc>
                <a:spcPct val="104000"/>
              </a:lnSpc>
              <a:spcBef>
                <a:spcPts val="0"/>
              </a:spcBef>
              <a:buNone/>
              <a:defRPr b="1" i="0" sz="1600">
                <a:solidFill>
                  <a:srgbClr val="888888"/>
                </a:solidFill>
                <a:latin typeface="Cambria"/>
                <a:ea typeface="Cambria"/>
                <a:cs typeface="Cambria"/>
                <a:sym typeface="Cambria"/>
              </a:defRPr>
            </a:lvl3pPr>
            <a:lvl4pPr indent="0" lvl="3" marL="38100">
              <a:lnSpc>
                <a:spcPct val="104000"/>
              </a:lnSpc>
              <a:spcBef>
                <a:spcPts val="0"/>
              </a:spcBef>
              <a:buNone/>
              <a:defRPr b="1" i="0" sz="1600">
                <a:solidFill>
                  <a:srgbClr val="888888"/>
                </a:solidFill>
                <a:latin typeface="Cambria"/>
                <a:ea typeface="Cambria"/>
                <a:cs typeface="Cambria"/>
                <a:sym typeface="Cambria"/>
              </a:defRPr>
            </a:lvl4pPr>
            <a:lvl5pPr indent="0" lvl="4" marL="38100">
              <a:lnSpc>
                <a:spcPct val="104000"/>
              </a:lnSpc>
              <a:spcBef>
                <a:spcPts val="0"/>
              </a:spcBef>
              <a:buNone/>
              <a:defRPr b="1" i="0" sz="1600">
                <a:solidFill>
                  <a:srgbClr val="888888"/>
                </a:solidFill>
                <a:latin typeface="Cambria"/>
                <a:ea typeface="Cambria"/>
                <a:cs typeface="Cambria"/>
                <a:sym typeface="Cambria"/>
              </a:defRPr>
            </a:lvl5pPr>
            <a:lvl6pPr indent="0" lvl="5" marL="38100">
              <a:lnSpc>
                <a:spcPct val="104000"/>
              </a:lnSpc>
              <a:spcBef>
                <a:spcPts val="0"/>
              </a:spcBef>
              <a:buNone/>
              <a:defRPr b="1" i="0" sz="1600">
                <a:solidFill>
                  <a:srgbClr val="888888"/>
                </a:solidFill>
                <a:latin typeface="Cambria"/>
                <a:ea typeface="Cambria"/>
                <a:cs typeface="Cambria"/>
                <a:sym typeface="Cambria"/>
              </a:defRPr>
            </a:lvl6pPr>
            <a:lvl7pPr indent="0" lvl="6" marL="38100">
              <a:lnSpc>
                <a:spcPct val="104000"/>
              </a:lnSpc>
              <a:spcBef>
                <a:spcPts val="0"/>
              </a:spcBef>
              <a:buNone/>
              <a:defRPr b="1" i="0" sz="1600">
                <a:solidFill>
                  <a:srgbClr val="888888"/>
                </a:solidFill>
                <a:latin typeface="Cambria"/>
                <a:ea typeface="Cambria"/>
                <a:cs typeface="Cambria"/>
                <a:sym typeface="Cambria"/>
              </a:defRPr>
            </a:lvl7pPr>
            <a:lvl8pPr indent="0" lvl="7" marL="38100">
              <a:lnSpc>
                <a:spcPct val="104000"/>
              </a:lnSpc>
              <a:spcBef>
                <a:spcPts val="0"/>
              </a:spcBef>
              <a:buNone/>
              <a:defRPr b="1" i="0" sz="1600">
                <a:solidFill>
                  <a:srgbClr val="888888"/>
                </a:solidFill>
                <a:latin typeface="Cambria"/>
                <a:ea typeface="Cambria"/>
                <a:cs typeface="Cambria"/>
                <a:sym typeface="Cambria"/>
              </a:defRPr>
            </a:lvl8pPr>
            <a:lvl9pPr indent="0" lvl="8" marL="38100">
              <a:lnSpc>
                <a:spcPct val="104000"/>
              </a:lnSpc>
              <a:spcBef>
                <a:spcPts val="0"/>
              </a:spcBef>
              <a:buNone/>
              <a:defRPr b="1" i="0" sz="1600">
                <a:solidFill>
                  <a:srgbClr val="888888"/>
                </a:solidFill>
                <a:latin typeface="Cambria"/>
                <a:ea typeface="Cambria"/>
                <a:cs typeface="Cambria"/>
                <a:sym typeface="Cambria"/>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4" name="Shape 24"/>
        <p:cNvGrpSpPr/>
        <p:nvPr/>
      </p:nvGrpSpPr>
      <p:grpSpPr>
        <a:xfrm>
          <a:off x="0" y="0"/>
          <a:ext cx="0" cy="0"/>
          <a:chOff x="0" y="0"/>
          <a:chExt cx="0" cy="0"/>
        </a:xfrm>
      </p:grpSpPr>
      <p:sp>
        <p:nvSpPr>
          <p:cNvPr id="25" name="Google Shape;25;p3"/>
          <p:cNvSpPr txBox="1"/>
          <p:nvPr>
            <p:ph type="title"/>
          </p:nvPr>
        </p:nvSpPr>
        <p:spPr>
          <a:xfrm>
            <a:off x="1349700" y="326641"/>
            <a:ext cx="10254615" cy="5340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3"/>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60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
          <p:cNvSpPr txBox="1"/>
          <p:nvPr>
            <p:ph idx="10" type="dt"/>
          </p:nvPr>
        </p:nvSpPr>
        <p:spPr>
          <a:xfrm>
            <a:off x="179689" y="6441110"/>
            <a:ext cx="1124585" cy="2292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60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
          <p:cNvSpPr txBox="1"/>
          <p:nvPr>
            <p:ph idx="12" type="sldNum"/>
          </p:nvPr>
        </p:nvSpPr>
        <p:spPr>
          <a:xfrm>
            <a:off x="11841188" y="6441110"/>
            <a:ext cx="209550" cy="229234"/>
          </a:xfrm>
          <a:prstGeom prst="rect">
            <a:avLst/>
          </a:prstGeom>
          <a:noFill/>
          <a:ln>
            <a:noFill/>
          </a:ln>
        </p:spPr>
        <p:txBody>
          <a:bodyPr anchorCtr="0" anchor="t" bIns="0" lIns="0" spcFirstLastPara="1" rIns="0" wrap="square" tIns="0">
            <a:spAutoFit/>
          </a:bodyPr>
          <a:lstStyle>
            <a:lvl1pPr indent="0" lvl="0" marL="38100">
              <a:lnSpc>
                <a:spcPct val="104000"/>
              </a:lnSpc>
              <a:spcBef>
                <a:spcPts val="0"/>
              </a:spcBef>
              <a:buNone/>
              <a:defRPr b="1" i="0" sz="1600">
                <a:solidFill>
                  <a:srgbClr val="888888"/>
                </a:solidFill>
                <a:latin typeface="Cambria"/>
                <a:ea typeface="Cambria"/>
                <a:cs typeface="Cambria"/>
                <a:sym typeface="Cambria"/>
              </a:defRPr>
            </a:lvl1pPr>
            <a:lvl2pPr indent="0" lvl="1" marL="38100">
              <a:lnSpc>
                <a:spcPct val="104000"/>
              </a:lnSpc>
              <a:spcBef>
                <a:spcPts val="0"/>
              </a:spcBef>
              <a:buNone/>
              <a:defRPr b="1" i="0" sz="1600">
                <a:solidFill>
                  <a:srgbClr val="888888"/>
                </a:solidFill>
                <a:latin typeface="Cambria"/>
                <a:ea typeface="Cambria"/>
                <a:cs typeface="Cambria"/>
                <a:sym typeface="Cambria"/>
              </a:defRPr>
            </a:lvl2pPr>
            <a:lvl3pPr indent="0" lvl="2" marL="38100">
              <a:lnSpc>
                <a:spcPct val="104000"/>
              </a:lnSpc>
              <a:spcBef>
                <a:spcPts val="0"/>
              </a:spcBef>
              <a:buNone/>
              <a:defRPr b="1" i="0" sz="1600">
                <a:solidFill>
                  <a:srgbClr val="888888"/>
                </a:solidFill>
                <a:latin typeface="Cambria"/>
                <a:ea typeface="Cambria"/>
                <a:cs typeface="Cambria"/>
                <a:sym typeface="Cambria"/>
              </a:defRPr>
            </a:lvl3pPr>
            <a:lvl4pPr indent="0" lvl="3" marL="38100">
              <a:lnSpc>
                <a:spcPct val="104000"/>
              </a:lnSpc>
              <a:spcBef>
                <a:spcPts val="0"/>
              </a:spcBef>
              <a:buNone/>
              <a:defRPr b="1" i="0" sz="1600">
                <a:solidFill>
                  <a:srgbClr val="888888"/>
                </a:solidFill>
                <a:latin typeface="Cambria"/>
                <a:ea typeface="Cambria"/>
                <a:cs typeface="Cambria"/>
                <a:sym typeface="Cambria"/>
              </a:defRPr>
            </a:lvl4pPr>
            <a:lvl5pPr indent="0" lvl="4" marL="38100">
              <a:lnSpc>
                <a:spcPct val="104000"/>
              </a:lnSpc>
              <a:spcBef>
                <a:spcPts val="0"/>
              </a:spcBef>
              <a:buNone/>
              <a:defRPr b="1" i="0" sz="1600">
                <a:solidFill>
                  <a:srgbClr val="888888"/>
                </a:solidFill>
                <a:latin typeface="Cambria"/>
                <a:ea typeface="Cambria"/>
                <a:cs typeface="Cambria"/>
                <a:sym typeface="Cambria"/>
              </a:defRPr>
            </a:lvl5pPr>
            <a:lvl6pPr indent="0" lvl="5" marL="38100">
              <a:lnSpc>
                <a:spcPct val="104000"/>
              </a:lnSpc>
              <a:spcBef>
                <a:spcPts val="0"/>
              </a:spcBef>
              <a:buNone/>
              <a:defRPr b="1" i="0" sz="1600">
                <a:solidFill>
                  <a:srgbClr val="888888"/>
                </a:solidFill>
                <a:latin typeface="Cambria"/>
                <a:ea typeface="Cambria"/>
                <a:cs typeface="Cambria"/>
                <a:sym typeface="Cambria"/>
              </a:defRPr>
            </a:lvl6pPr>
            <a:lvl7pPr indent="0" lvl="6" marL="38100">
              <a:lnSpc>
                <a:spcPct val="104000"/>
              </a:lnSpc>
              <a:spcBef>
                <a:spcPts val="0"/>
              </a:spcBef>
              <a:buNone/>
              <a:defRPr b="1" i="0" sz="1600">
                <a:solidFill>
                  <a:srgbClr val="888888"/>
                </a:solidFill>
                <a:latin typeface="Cambria"/>
                <a:ea typeface="Cambria"/>
                <a:cs typeface="Cambria"/>
                <a:sym typeface="Cambria"/>
              </a:defRPr>
            </a:lvl7pPr>
            <a:lvl8pPr indent="0" lvl="7" marL="38100">
              <a:lnSpc>
                <a:spcPct val="104000"/>
              </a:lnSpc>
              <a:spcBef>
                <a:spcPts val="0"/>
              </a:spcBef>
              <a:buNone/>
              <a:defRPr b="1" i="0" sz="1600">
                <a:solidFill>
                  <a:srgbClr val="888888"/>
                </a:solidFill>
                <a:latin typeface="Cambria"/>
                <a:ea typeface="Cambria"/>
                <a:cs typeface="Cambria"/>
                <a:sym typeface="Cambria"/>
              </a:defRPr>
            </a:lvl8pPr>
            <a:lvl9pPr indent="0" lvl="8" marL="38100">
              <a:lnSpc>
                <a:spcPct val="104000"/>
              </a:lnSpc>
              <a:spcBef>
                <a:spcPts val="0"/>
              </a:spcBef>
              <a:buNone/>
              <a:defRPr b="1" i="0" sz="1600">
                <a:solidFill>
                  <a:srgbClr val="888888"/>
                </a:solidFill>
                <a:latin typeface="Cambria"/>
                <a:ea typeface="Cambria"/>
                <a:cs typeface="Cambria"/>
                <a:sym typeface="Cambria"/>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9" name="Shape 29"/>
        <p:cNvGrpSpPr/>
        <p:nvPr/>
      </p:nvGrpSpPr>
      <p:grpSpPr>
        <a:xfrm>
          <a:off x="0" y="0"/>
          <a:ext cx="0" cy="0"/>
          <a:chOff x="0" y="0"/>
          <a:chExt cx="0" cy="0"/>
        </a:xfrm>
      </p:grpSpPr>
      <p:sp>
        <p:nvSpPr>
          <p:cNvPr id="30" name="Google Shape;30;p4"/>
          <p:cNvSpPr txBox="1"/>
          <p:nvPr>
            <p:ph type="ctrTitle"/>
          </p:nvPr>
        </p:nvSpPr>
        <p:spPr>
          <a:xfrm>
            <a:off x="5067081" y="360836"/>
            <a:ext cx="2131059" cy="5130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000">
                <a:solidFill>
                  <a:schemeClr val="dk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60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
          <p:cNvSpPr txBox="1"/>
          <p:nvPr>
            <p:ph idx="10" type="dt"/>
          </p:nvPr>
        </p:nvSpPr>
        <p:spPr>
          <a:xfrm>
            <a:off x="179689" y="6441110"/>
            <a:ext cx="1124585" cy="2292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60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
          <p:cNvSpPr txBox="1"/>
          <p:nvPr>
            <p:ph idx="12" type="sldNum"/>
          </p:nvPr>
        </p:nvSpPr>
        <p:spPr>
          <a:xfrm>
            <a:off x="11841188" y="6441110"/>
            <a:ext cx="209550" cy="229234"/>
          </a:xfrm>
          <a:prstGeom prst="rect">
            <a:avLst/>
          </a:prstGeom>
          <a:noFill/>
          <a:ln>
            <a:noFill/>
          </a:ln>
        </p:spPr>
        <p:txBody>
          <a:bodyPr anchorCtr="0" anchor="t" bIns="0" lIns="0" spcFirstLastPara="1" rIns="0" wrap="square" tIns="0">
            <a:spAutoFit/>
          </a:bodyPr>
          <a:lstStyle>
            <a:lvl1pPr indent="0" lvl="0" marL="38100">
              <a:lnSpc>
                <a:spcPct val="104000"/>
              </a:lnSpc>
              <a:spcBef>
                <a:spcPts val="0"/>
              </a:spcBef>
              <a:buNone/>
              <a:defRPr b="1" i="0" sz="1600">
                <a:solidFill>
                  <a:srgbClr val="888888"/>
                </a:solidFill>
                <a:latin typeface="Cambria"/>
                <a:ea typeface="Cambria"/>
                <a:cs typeface="Cambria"/>
                <a:sym typeface="Cambria"/>
              </a:defRPr>
            </a:lvl1pPr>
            <a:lvl2pPr indent="0" lvl="1" marL="38100">
              <a:lnSpc>
                <a:spcPct val="104000"/>
              </a:lnSpc>
              <a:spcBef>
                <a:spcPts val="0"/>
              </a:spcBef>
              <a:buNone/>
              <a:defRPr b="1" i="0" sz="1600">
                <a:solidFill>
                  <a:srgbClr val="888888"/>
                </a:solidFill>
                <a:latin typeface="Cambria"/>
                <a:ea typeface="Cambria"/>
                <a:cs typeface="Cambria"/>
                <a:sym typeface="Cambria"/>
              </a:defRPr>
            </a:lvl2pPr>
            <a:lvl3pPr indent="0" lvl="2" marL="38100">
              <a:lnSpc>
                <a:spcPct val="104000"/>
              </a:lnSpc>
              <a:spcBef>
                <a:spcPts val="0"/>
              </a:spcBef>
              <a:buNone/>
              <a:defRPr b="1" i="0" sz="1600">
                <a:solidFill>
                  <a:srgbClr val="888888"/>
                </a:solidFill>
                <a:latin typeface="Cambria"/>
                <a:ea typeface="Cambria"/>
                <a:cs typeface="Cambria"/>
                <a:sym typeface="Cambria"/>
              </a:defRPr>
            </a:lvl3pPr>
            <a:lvl4pPr indent="0" lvl="3" marL="38100">
              <a:lnSpc>
                <a:spcPct val="104000"/>
              </a:lnSpc>
              <a:spcBef>
                <a:spcPts val="0"/>
              </a:spcBef>
              <a:buNone/>
              <a:defRPr b="1" i="0" sz="1600">
                <a:solidFill>
                  <a:srgbClr val="888888"/>
                </a:solidFill>
                <a:latin typeface="Cambria"/>
                <a:ea typeface="Cambria"/>
                <a:cs typeface="Cambria"/>
                <a:sym typeface="Cambria"/>
              </a:defRPr>
            </a:lvl4pPr>
            <a:lvl5pPr indent="0" lvl="4" marL="38100">
              <a:lnSpc>
                <a:spcPct val="104000"/>
              </a:lnSpc>
              <a:spcBef>
                <a:spcPts val="0"/>
              </a:spcBef>
              <a:buNone/>
              <a:defRPr b="1" i="0" sz="1600">
                <a:solidFill>
                  <a:srgbClr val="888888"/>
                </a:solidFill>
                <a:latin typeface="Cambria"/>
                <a:ea typeface="Cambria"/>
                <a:cs typeface="Cambria"/>
                <a:sym typeface="Cambria"/>
              </a:defRPr>
            </a:lvl5pPr>
            <a:lvl6pPr indent="0" lvl="5" marL="38100">
              <a:lnSpc>
                <a:spcPct val="104000"/>
              </a:lnSpc>
              <a:spcBef>
                <a:spcPts val="0"/>
              </a:spcBef>
              <a:buNone/>
              <a:defRPr b="1" i="0" sz="1600">
                <a:solidFill>
                  <a:srgbClr val="888888"/>
                </a:solidFill>
                <a:latin typeface="Cambria"/>
                <a:ea typeface="Cambria"/>
                <a:cs typeface="Cambria"/>
                <a:sym typeface="Cambria"/>
              </a:defRPr>
            </a:lvl6pPr>
            <a:lvl7pPr indent="0" lvl="6" marL="38100">
              <a:lnSpc>
                <a:spcPct val="104000"/>
              </a:lnSpc>
              <a:spcBef>
                <a:spcPts val="0"/>
              </a:spcBef>
              <a:buNone/>
              <a:defRPr b="1" i="0" sz="1600">
                <a:solidFill>
                  <a:srgbClr val="888888"/>
                </a:solidFill>
                <a:latin typeface="Cambria"/>
                <a:ea typeface="Cambria"/>
                <a:cs typeface="Cambria"/>
                <a:sym typeface="Cambria"/>
              </a:defRPr>
            </a:lvl7pPr>
            <a:lvl8pPr indent="0" lvl="7" marL="38100">
              <a:lnSpc>
                <a:spcPct val="104000"/>
              </a:lnSpc>
              <a:spcBef>
                <a:spcPts val="0"/>
              </a:spcBef>
              <a:buNone/>
              <a:defRPr b="1" i="0" sz="1600">
                <a:solidFill>
                  <a:srgbClr val="888888"/>
                </a:solidFill>
                <a:latin typeface="Cambria"/>
                <a:ea typeface="Cambria"/>
                <a:cs typeface="Cambria"/>
                <a:sym typeface="Cambria"/>
              </a:defRPr>
            </a:lvl8pPr>
            <a:lvl9pPr indent="0" lvl="8" marL="38100">
              <a:lnSpc>
                <a:spcPct val="104000"/>
              </a:lnSpc>
              <a:spcBef>
                <a:spcPts val="0"/>
              </a:spcBef>
              <a:buNone/>
              <a:defRPr b="1" i="0" sz="1600">
                <a:solidFill>
                  <a:srgbClr val="888888"/>
                </a:solidFill>
                <a:latin typeface="Cambria"/>
                <a:ea typeface="Cambria"/>
                <a:cs typeface="Cambria"/>
                <a:sym typeface="Cambria"/>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5" name="Shape 35"/>
        <p:cNvGrpSpPr/>
        <p:nvPr/>
      </p:nvGrpSpPr>
      <p:grpSpPr>
        <a:xfrm>
          <a:off x="0" y="0"/>
          <a:ext cx="0" cy="0"/>
          <a:chOff x="0" y="0"/>
          <a:chExt cx="0" cy="0"/>
        </a:xfrm>
      </p:grpSpPr>
      <p:sp>
        <p:nvSpPr>
          <p:cNvPr id="36" name="Google Shape;36;p5"/>
          <p:cNvSpPr txBox="1"/>
          <p:nvPr>
            <p:ph type="title"/>
          </p:nvPr>
        </p:nvSpPr>
        <p:spPr>
          <a:xfrm>
            <a:off x="1349700" y="326641"/>
            <a:ext cx="10254615" cy="53403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5"/>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5"/>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5"/>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60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0" type="dt"/>
          </p:nvPr>
        </p:nvSpPr>
        <p:spPr>
          <a:xfrm>
            <a:off x="179689" y="6441110"/>
            <a:ext cx="1124585" cy="2292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60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5"/>
          <p:cNvSpPr txBox="1"/>
          <p:nvPr>
            <p:ph idx="12" type="sldNum"/>
          </p:nvPr>
        </p:nvSpPr>
        <p:spPr>
          <a:xfrm>
            <a:off x="11841188" y="6441110"/>
            <a:ext cx="209550" cy="229234"/>
          </a:xfrm>
          <a:prstGeom prst="rect">
            <a:avLst/>
          </a:prstGeom>
          <a:noFill/>
          <a:ln>
            <a:noFill/>
          </a:ln>
        </p:spPr>
        <p:txBody>
          <a:bodyPr anchorCtr="0" anchor="t" bIns="0" lIns="0" spcFirstLastPara="1" rIns="0" wrap="square" tIns="0">
            <a:spAutoFit/>
          </a:bodyPr>
          <a:lstStyle>
            <a:lvl1pPr indent="0" lvl="0" marL="38100">
              <a:lnSpc>
                <a:spcPct val="104000"/>
              </a:lnSpc>
              <a:spcBef>
                <a:spcPts val="0"/>
              </a:spcBef>
              <a:buNone/>
              <a:defRPr b="1" i="0" sz="1600">
                <a:solidFill>
                  <a:srgbClr val="888888"/>
                </a:solidFill>
                <a:latin typeface="Cambria"/>
                <a:ea typeface="Cambria"/>
                <a:cs typeface="Cambria"/>
                <a:sym typeface="Cambria"/>
              </a:defRPr>
            </a:lvl1pPr>
            <a:lvl2pPr indent="0" lvl="1" marL="38100">
              <a:lnSpc>
                <a:spcPct val="104000"/>
              </a:lnSpc>
              <a:spcBef>
                <a:spcPts val="0"/>
              </a:spcBef>
              <a:buNone/>
              <a:defRPr b="1" i="0" sz="1600">
                <a:solidFill>
                  <a:srgbClr val="888888"/>
                </a:solidFill>
                <a:latin typeface="Cambria"/>
                <a:ea typeface="Cambria"/>
                <a:cs typeface="Cambria"/>
                <a:sym typeface="Cambria"/>
              </a:defRPr>
            </a:lvl2pPr>
            <a:lvl3pPr indent="0" lvl="2" marL="38100">
              <a:lnSpc>
                <a:spcPct val="104000"/>
              </a:lnSpc>
              <a:spcBef>
                <a:spcPts val="0"/>
              </a:spcBef>
              <a:buNone/>
              <a:defRPr b="1" i="0" sz="1600">
                <a:solidFill>
                  <a:srgbClr val="888888"/>
                </a:solidFill>
                <a:latin typeface="Cambria"/>
                <a:ea typeface="Cambria"/>
                <a:cs typeface="Cambria"/>
                <a:sym typeface="Cambria"/>
              </a:defRPr>
            </a:lvl3pPr>
            <a:lvl4pPr indent="0" lvl="3" marL="38100">
              <a:lnSpc>
                <a:spcPct val="104000"/>
              </a:lnSpc>
              <a:spcBef>
                <a:spcPts val="0"/>
              </a:spcBef>
              <a:buNone/>
              <a:defRPr b="1" i="0" sz="1600">
                <a:solidFill>
                  <a:srgbClr val="888888"/>
                </a:solidFill>
                <a:latin typeface="Cambria"/>
                <a:ea typeface="Cambria"/>
                <a:cs typeface="Cambria"/>
                <a:sym typeface="Cambria"/>
              </a:defRPr>
            </a:lvl4pPr>
            <a:lvl5pPr indent="0" lvl="4" marL="38100">
              <a:lnSpc>
                <a:spcPct val="104000"/>
              </a:lnSpc>
              <a:spcBef>
                <a:spcPts val="0"/>
              </a:spcBef>
              <a:buNone/>
              <a:defRPr b="1" i="0" sz="1600">
                <a:solidFill>
                  <a:srgbClr val="888888"/>
                </a:solidFill>
                <a:latin typeface="Cambria"/>
                <a:ea typeface="Cambria"/>
                <a:cs typeface="Cambria"/>
                <a:sym typeface="Cambria"/>
              </a:defRPr>
            </a:lvl5pPr>
            <a:lvl6pPr indent="0" lvl="5" marL="38100">
              <a:lnSpc>
                <a:spcPct val="104000"/>
              </a:lnSpc>
              <a:spcBef>
                <a:spcPts val="0"/>
              </a:spcBef>
              <a:buNone/>
              <a:defRPr b="1" i="0" sz="1600">
                <a:solidFill>
                  <a:srgbClr val="888888"/>
                </a:solidFill>
                <a:latin typeface="Cambria"/>
                <a:ea typeface="Cambria"/>
                <a:cs typeface="Cambria"/>
                <a:sym typeface="Cambria"/>
              </a:defRPr>
            </a:lvl6pPr>
            <a:lvl7pPr indent="0" lvl="6" marL="38100">
              <a:lnSpc>
                <a:spcPct val="104000"/>
              </a:lnSpc>
              <a:spcBef>
                <a:spcPts val="0"/>
              </a:spcBef>
              <a:buNone/>
              <a:defRPr b="1" i="0" sz="1600">
                <a:solidFill>
                  <a:srgbClr val="888888"/>
                </a:solidFill>
                <a:latin typeface="Cambria"/>
                <a:ea typeface="Cambria"/>
                <a:cs typeface="Cambria"/>
                <a:sym typeface="Cambria"/>
              </a:defRPr>
            </a:lvl7pPr>
            <a:lvl8pPr indent="0" lvl="7" marL="38100">
              <a:lnSpc>
                <a:spcPct val="104000"/>
              </a:lnSpc>
              <a:spcBef>
                <a:spcPts val="0"/>
              </a:spcBef>
              <a:buNone/>
              <a:defRPr b="1" i="0" sz="1600">
                <a:solidFill>
                  <a:srgbClr val="888888"/>
                </a:solidFill>
                <a:latin typeface="Cambria"/>
                <a:ea typeface="Cambria"/>
                <a:cs typeface="Cambria"/>
                <a:sym typeface="Cambria"/>
              </a:defRPr>
            </a:lvl8pPr>
            <a:lvl9pPr indent="0" lvl="8" marL="38100">
              <a:lnSpc>
                <a:spcPct val="104000"/>
              </a:lnSpc>
              <a:spcBef>
                <a:spcPts val="0"/>
              </a:spcBef>
              <a:buNone/>
              <a:defRPr b="1" i="0" sz="1600">
                <a:solidFill>
                  <a:srgbClr val="888888"/>
                </a:solidFill>
                <a:latin typeface="Cambria"/>
                <a:ea typeface="Cambria"/>
                <a:cs typeface="Cambria"/>
                <a:sym typeface="Cambria"/>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2" name="Shape 42"/>
        <p:cNvGrpSpPr/>
        <p:nvPr/>
      </p:nvGrpSpPr>
      <p:grpSpPr>
        <a:xfrm>
          <a:off x="0" y="0"/>
          <a:ext cx="0" cy="0"/>
          <a:chOff x="0" y="0"/>
          <a:chExt cx="0" cy="0"/>
        </a:xfrm>
      </p:grpSpPr>
      <p:sp>
        <p:nvSpPr>
          <p:cNvPr id="43" name="Google Shape;43;p6"/>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60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6"/>
          <p:cNvSpPr txBox="1"/>
          <p:nvPr>
            <p:ph idx="10" type="dt"/>
          </p:nvPr>
        </p:nvSpPr>
        <p:spPr>
          <a:xfrm>
            <a:off x="179689" y="6441110"/>
            <a:ext cx="1124585" cy="2292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60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6"/>
          <p:cNvSpPr txBox="1"/>
          <p:nvPr>
            <p:ph idx="12" type="sldNum"/>
          </p:nvPr>
        </p:nvSpPr>
        <p:spPr>
          <a:xfrm>
            <a:off x="11841188" y="6441110"/>
            <a:ext cx="209550" cy="229234"/>
          </a:xfrm>
          <a:prstGeom prst="rect">
            <a:avLst/>
          </a:prstGeom>
          <a:noFill/>
          <a:ln>
            <a:noFill/>
          </a:ln>
        </p:spPr>
        <p:txBody>
          <a:bodyPr anchorCtr="0" anchor="t" bIns="0" lIns="0" spcFirstLastPara="1" rIns="0" wrap="square" tIns="0">
            <a:spAutoFit/>
          </a:bodyPr>
          <a:lstStyle>
            <a:lvl1pPr indent="0" lvl="0" marL="38100">
              <a:lnSpc>
                <a:spcPct val="104000"/>
              </a:lnSpc>
              <a:spcBef>
                <a:spcPts val="0"/>
              </a:spcBef>
              <a:buNone/>
              <a:defRPr b="1" i="0" sz="1600">
                <a:solidFill>
                  <a:srgbClr val="888888"/>
                </a:solidFill>
                <a:latin typeface="Cambria"/>
                <a:ea typeface="Cambria"/>
                <a:cs typeface="Cambria"/>
                <a:sym typeface="Cambria"/>
              </a:defRPr>
            </a:lvl1pPr>
            <a:lvl2pPr indent="0" lvl="1" marL="38100">
              <a:lnSpc>
                <a:spcPct val="104000"/>
              </a:lnSpc>
              <a:spcBef>
                <a:spcPts val="0"/>
              </a:spcBef>
              <a:buNone/>
              <a:defRPr b="1" i="0" sz="1600">
                <a:solidFill>
                  <a:srgbClr val="888888"/>
                </a:solidFill>
                <a:latin typeface="Cambria"/>
                <a:ea typeface="Cambria"/>
                <a:cs typeface="Cambria"/>
                <a:sym typeface="Cambria"/>
              </a:defRPr>
            </a:lvl2pPr>
            <a:lvl3pPr indent="0" lvl="2" marL="38100">
              <a:lnSpc>
                <a:spcPct val="104000"/>
              </a:lnSpc>
              <a:spcBef>
                <a:spcPts val="0"/>
              </a:spcBef>
              <a:buNone/>
              <a:defRPr b="1" i="0" sz="1600">
                <a:solidFill>
                  <a:srgbClr val="888888"/>
                </a:solidFill>
                <a:latin typeface="Cambria"/>
                <a:ea typeface="Cambria"/>
                <a:cs typeface="Cambria"/>
                <a:sym typeface="Cambria"/>
              </a:defRPr>
            </a:lvl3pPr>
            <a:lvl4pPr indent="0" lvl="3" marL="38100">
              <a:lnSpc>
                <a:spcPct val="104000"/>
              </a:lnSpc>
              <a:spcBef>
                <a:spcPts val="0"/>
              </a:spcBef>
              <a:buNone/>
              <a:defRPr b="1" i="0" sz="1600">
                <a:solidFill>
                  <a:srgbClr val="888888"/>
                </a:solidFill>
                <a:latin typeface="Cambria"/>
                <a:ea typeface="Cambria"/>
                <a:cs typeface="Cambria"/>
                <a:sym typeface="Cambria"/>
              </a:defRPr>
            </a:lvl4pPr>
            <a:lvl5pPr indent="0" lvl="4" marL="38100">
              <a:lnSpc>
                <a:spcPct val="104000"/>
              </a:lnSpc>
              <a:spcBef>
                <a:spcPts val="0"/>
              </a:spcBef>
              <a:buNone/>
              <a:defRPr b="1" i="0" sz="1600">
                <a:solidFill>
                  <a:srgbClr val="888888"/>
                </a:solidFill>
                <a:latin typeface="Cambria"/>
                <a:ea typeface="Cambria"/>
                <a:cs typeface="Cambria"/>
                <a:sym typeface="Cambria"/>
              </a:defRPr>
            </a:lvl5pPr>
            <a:lvl6pPr indent="0" lvl="5" marL="38100">
              <a:lnSpc>
                <a:spcPct val="104000"/>
              </a:lnSpc>
              <a:spcBef>
                <a:spcPts val="0"/>
              </a:spcBef>
              <a:buNone/>
              <a:defRPr b="1" i="0" sz="1600">
                <a:solidFill>
                  <a:srgbClr val="888888"/>
                </a:solidFill>
                <a:latin typeface="Cambria"/>
                <a:ea typeface="Cambria"/>
                <a:cs typeface="Cambria"/>
                <a:sym typeface="Cambria"/>
              </a:defRPr>
            </a:lvl6pPr>
            <a:lvl7pPr indent="0" lvl="6" marL="38100">
              <a:lnSpc>
                <a:spcPct val="104000"/>
              </a:lnSpc>
              <a:spcBef>
                <a:spcPts val="0"/>
              </a:spcBef>
              <a:buNone/>
              <a:defRPr b="1" i="0" sz="1600">
                <a:solidFill>
                  <a:srgbClr val="888888"/>
                </a:solidFill>
                <a:latin typeface="Cambria"/>
                <a:ea typeface="Cambria"/>
                <a:cs typeface="Cambria"/>
                <a:sym typeface="Cambria"/>
              </a:defRPr>
            </a:lvl7pPr>
            <a:lvl8pPr indent="0" lvl="7" marL="38100">
              <a:lnSpc>
                <a:spcPct val="104000"/>
              </a:lnSpc>
              <a:spcBef>
                <a:spcPts val="0"/>
              </a:spcBef>
              <a:buNone/>
              <a:defRPr b="1" i="0" sz="1600">
                <a:solidFill>
                  <a:srgbClr val="888888"/>
                </a:solidFill>
                <a:latin typeface="Cambria"/>
                <a:ea typeface="Cambria"/>
                <a:cs typeface="Cambria"/>
                <a:sym typeface="Cambria"/>
              </a:defRPr>
            </a:lvl8pPr>
            <a:lvl9pPr indent="0" lvl="8" marL="38100">
              <a:lnSpc>
                <a:spcPct val="104000"/>
              </a:lnSpc>
              <a:spcBef>
                <a:spcPts val="0"/>
              </a:spcBef>
              <a:buNone/>
              <a:defRPr b="1" i="0" sz="1600">
                <a:solidFill>
                  <a:srgbClr val="888888"/>
                </a:solidFill>
                <a:latin typeface="Cambria"/>
                <a:ea typeface="Cambria"/>
                <a:cs typeface="Cambria"/>
                <a:sym typeface="Cambria"/>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0"/>
            <a:ext cx="12192000" cy="1094740"/>
          </a:xfrm>
          <a:custGeom>
            <a:rect b="b" l="l" r="r" t="t"/>
            <a:pathLst>
              <a:path extrusionOk="0" h="1094740" w="12192000">
                <a:moveTo>
                  <a:pt x="12191999" y="1094703"/>
                </a:moveTo>
                <a:lnTo>
                  <a:pt x="0" y="1094703"/>
                </a:lnTo>
                <a:lnTo>
                  <a:pt x="0" y="0"/>
                </a:lnTo>
                <a:lnTo>
                  <a:pt x="12191999" y="0"/>
                </a:lnTo>
                <a:lnTo>
                  <a:pt x="12191999" y="1094703"/>
                </a:lnTo>
                <a:close/>
              </a:path>
            </a:pathLst>
          </a:custGeom>
          <a:solidFill>
            <a:srgbClr val="2F549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 name="Google Shape;11;p1"/>
          <p:cNvSpPr/>
          <p:nvPr/>
        </p:nvSpPr>
        <p:spPr>
          <a:xfrm>
            <a:off x="0" y="0"/>
            <a:ext cx="12192000" cy="1094740"/>
          </a:xfrm>
          <a:custGeom>
            <a:rect b="b" l="l" r="r" t="t"/>
            <a:pathLst>
              <a:path extrusionOk="0" h="1094740" w="12192000">
                <a:moveTo>
                  <a:pt x="0" y="0"/>
                </a:moveTo>
                <a:lnTo>
                  <a:pt x="12191999" y="0"/>
                </a:lnTo>
                <a:lnTo>
                  <a:pt x="12191999" y="1094703"/>
                </a:lnTo>
                <a:lnTo>
                  <a:pt x="0" y="1094703"/>
                </a:lnTo>
                <a:lnTo>
                  <a:pt x="0" y="0"/>
                </a:lnTo>
                <a:close/>
              </a:path>
            </a:pathLst>
          </a:custGeom>
          <a:noFill/>
          <a:ln cap="flat" cmpd="sng" w="12675">
            <a:solidFill>
              <a:srgbClr val="1B3052"/>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2" name="Google Shape;12;p1"/>
          <p:cNvPicPr preferRelativeResize="0"/>
          <p:nvPr/>
        </p:nvPicPr>
        <p:blipFill rotWithShape="1">
          <a:blip r:embed="rId1">
            <a:alphaModFix/>
          </a:blip>
          <a:srcRect b="0" l="0" r="0" t="0"/>
          <a:stretch/>
        </p:blipFill>
        <p:spPr>
          <a:xfrm>
            <a:off x="2" y="0"/>
            <a:ext cx="1191373" cy="1107581"/>
          </a:xfrm>
          <a:prstGeom prst="rect">
            <a:avLst/>
          </a:prstGeom>
          <a:noFill/>
          <a:ln>
            <a:noFill/>
          </a:ln>
        </p:spPr>
      </p:pic>
      <p:sp>
        <p:nvSpPr>
          <p:cNvPr id="13" name="Google Shape;13;p1"/>
          <p:cNvSpPr txBox="1"/>
          <p:nvPr>
            <p:ph type="title"/>
          </p:nvPr>
        </p:nvSpPr>
        <p:spPr>
          <a:xfrm>
            <a:off x="1349700" y="326641"/>
            <a:ext cx="10254615" cy="534032"/>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2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1"/>
          <p:cNvSpPr txBox="1"/>
          <p:nvPr>
            <p:ph idx="1" type="body"/>
          </p:nvPr>
        </p:nvSpPr>
        <p:spPr>
          <a:xfrm>
            <a:off x="901718" y="1044459"/>
            <a:ext cx="5309870" cy="414020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30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5" name="Google Shape;15;p1"/>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600">
                <a:solidFill>
                  <a:srgbClr val="888888"/>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1"/>
          <p:cNvSpPr txBox="1"/>
          <p:nvPr>
            <p:ph idx="10" type="dt"/>
          </p:nvPr>
        </p:nvSpPr>
        <p:spPr>
          <a:xfrm>
            <a:off x="179689" y="6441110"/>
            <a:ext cx="1124585" cy="229234"/>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1" i="0" sz="1600">
                <a:solidFill>
                  <a:srgbClr val="888888"/>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 name="Google Shape;17;p1"/>
          <p:cNvSpPr txBox="1"/>
          <p:nvPr>
            <p:ph idx="12" type="sldNum"/>
          </p:nvPr>
        </p:nvSpPr>
        <p:spPr>
          <a:xfrm>
            <a:off x="11841188" y="6441110"/>
            <a:ext cx="209550" cy="229234"/>
          </a:xfrm>
          <a:prstGeom prst="rect">
            <a:avLst/>
          </a:prstGeom>
          <a:noFill/>
          <a:ln>
            <a:noFill/>
          </a:ln>
        </p:spPr>
        <p:txBody>
          <a:bodyPr anchorCtr="0" anchor="t" bIns="0" lIns="0" spcFirstLastPara="1" rIns="0" wrap="square" tIns="0">
            <a:spAutoFit/>
          </a:bodyPr>
          <a:lstStyle>
            <a:lvl1pPr indent="0" lvl="0" marL="38100">
              <a:lnSpc>
                <a:spcPct val="104000"/>
              </a:lnSpc>
              <a:spcBef>
                <a:spcPts val="0"/>
              </a:spcBef>
              <a:buNone/>
              <a:defRPr b="1" i="0" sz="1600">
                <a:solidFill>
                  <a:srgbClr val="888888"/>
                </a:solidFill>
                <a:latin typeface="Cambria"/>
                <a:ea typeface="Cambria"/>
                <a:cs typeface="Cambria"/>
                <a:sym typeface="Cambria"/>
              </a:defRPr>
            </a:lvl1pPr>
            <a:lvl2pPr indent="0" lvl="1" marL="38100">
              <a:lnSpc>
                <a:spcPct val="104000"/>
              </a:lnSpc>
              <a:spcBef>
                <a:spcPts val="0"/>
              </a:spcBef>
              <a:buNone/>
              <a:defRPr b="1" i="0" sz="1600">
                <a:solidFill>
                  <a:srgbClr val="888888"/>
                </a:solidFill>
                <a:latin typeface="Cambria"/>
                <a:ea typeface="Cambria"/>
                <a:cs typeface="Cambria"/>
                <a:sym typeface="Cambria"/>
              </a:defRPr>
            </a:lvl2pPr>
            <a:lvl3pPr indent="0" lvl="2" marL="38100">
              <a:lnSpc>
                <a:spcPct val="104000"/>
              </a:lnSpc>
              <a:spcBef>
                <a:spcPts val="0"/>
              </a:spcBef>
              <a:buNone/>
              <a:defRPr b="1" i="0" sz="1600">
                <a:solidFill>
                  <a:srgbClr val="888888"/>
                </a:solidFill>
                <a:latin typeface="Cambria"/>
                <a:ea typeface="Cambria"/>
                <a:cs typeface="Cambria"/>
                <a:sym typeface="Cambria"/>
              </a:defRPr>
            </a:lvl3pPr>
            <a:lvl4pPr indent="0" lvl="3" marL="38100">
              <a:lnSpc>
                <a:spcPct val="104000"/>
              </a:lnSpc>
              <a:spcBef>
                <a:spcPts val="0"/>
              </a:spcBef>
              <a:buNone/>
              <a:defRPr b="1" i="0" sz="1600">
                <a:solidFill>
                  <a:srgbClr val="888888"/>
                </a:solidFill>
                <a:latin typeface="Cambria"/>
                <a:ea typeface="Cambria"/>
                <a:cs typeface="Cambria"/>
                <a:sym typeface="Cambria"/>
              </a:defRPr>
            </a:lvl4pPr>
            <a:lvl5pPr indent="0" lvl="4" marL="38100">
              <a:lnSpc>
                <a:spcPct val="104000"/>
              </a:lnSpc>
              <a:spcBef>
                <a:spcPts val="0"/>
              </a:spcBef>
              <a:buNone/>
              <a:defRPr b="1" i="0" sz="1600">
                <a:solidFill>
                  <a:srgbClr val="888888"/>
                </a:solidFill>
                <a:latin typeface="Cambria"/>
                <a:ea typeface="Cambria"/>
                <a:cs typeface="Cambria"/>
                <a:sym typeface="Cambria"/>
              </a:defRPr>
            </a:lvl5pPr>
            <a:lvl6pPr indent="0" lvl="5" marL="38100">
              <a:lnSpc>
                <a:spcPct val="104000"/>
              </a:lnSpc>
              <a:spcBef>
                <a:spcPts val="0"/>
              </a:spcBef>
              <a:buNone/>
              <a:defRPr b="1" i="0" sz="1600">
                <a:solidFill>
                  <a:srgbClr val="888888"/>
                </a:solidFill>
                <a:latin typeface="Cambria"/>
                <a:ea typeface="Cambria"/>
                <a:cs typeface="Cambria"/>
                <a:sym typeface="Cambria"/>
              </a:defRPr>
            </a:lvl6pPr>
            <a:lvl7pPr indent="0" lvl="6" marL="38100">
              <a:lnSpc>
                <a:spcPct val="104000"/>
              </a:lnSpc>
              <a:spcBef>
                <a:spcPts val="0"/>
              </a:spcBef>
              <a:buNone/>
              <a:defRPr b="1" i="0" sz="1600">
                <a:solidFill>
                  <a:srgbClr val="888888"/>
                </a:solidFill>
                <a:latin typeface="Cambria"/>
                <a:ea typeface="Cambria"/>
                <a:cs typeface="Cambria"/>
                <a:sym typeface="Cambria"/>
              </a:defRPr>
            </a:lvl7pPr>
            <a:lvl8pPr indent="0" lvl="7" marL="38100">
              <a:lnSpc>
                <a:spcPct val="104000"/>
              </a:lnSpc>
              <a:spcBef>
                <a:spcPts val="0"/>
              </a:spcBef>
              <a:buNone/>
              <a:defRPr b="1" i="0" sz="1600">
                <a:solidFill>
                  <a:srgbClr val="888888"/>
                </a:solidFill>
                <a:latin typeface="Cambria"/>
                <a:ea typeface="Cambria"/>
                <a:cs typeface="Cambria"/>
                <a:sym typeface="Cambria"/>
              </a:defRPr>
            </a:lvl8pPr>
            <a:lvl9pPr indent="0" lvl="8" marL="38100">
              <a:lnSpc>
                <a:spcPct val="104000"/>
              </a:lnSpc>
              <a:spcBef>
                <a:spcPts val="0"/>
              </a:spcBef>
              <a:buNone/>
              <a:defRPr b="1" i="0" sz="1600">
                <a:solidFill>
                  <a:srgbClr val="888888"/>
                </a:solidFill>
                <a:latin typeface="Cambria"/>
                <a:ea typeface="Cambria"/>
                <a:cs typeface="Cambria"/>
                <a:sym typeface="Cambria"/>
              </a:defRPr>
            </a:lvl9pPr>
          </a:lstStyle>
          <a:p>
            <a:pPr indent="0" lvl="0" marL="3810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7"/>
          <p:cNvSpPr txBox="1"/>
          <p:nvPr>
            <p:ph type="title"/>
          </p:nvPr>
        </p:nvSpPr>
        <p:spPr>
          <a:xfrm>
            <a:off x="1349700" y="326641"/>
            <a:ext cx="10254615" cy="534032"/>
          </a:xfrm>
          <a:prstGeom prst="rect">
            <a:avLst/>
          </a:prstGeom>
          <a:noFill/>
          <a:ln>
            <a:noFill/>
          </a:ln>
        </p:spPr>
        <p:txBody>
          <a:bodyPr anchorCtr="0" anchor="t" bIns="0" lIns="0" spcFirstLastPara="1" rIns="0" wrap="square" tIns="94600">
            <a:spAutoFit/>
          </a:bodyPr>
          <a:lstStyle/>
          <a:p>
            <a:pPr indent="0" lvl="0" marL="12700" rtl="0" algn="ctr">
              <a:lnSpc>
                <a:spcPct val="100000"/>
              </a:lnSpc>
              <a:spcBef>
                <a:spcPts val="0"/>
              </a:spcBef>
              <a:spcAft>
                <a:spcPts val="0"/>
              </a:spcAft>
              <a:buNone/>
            </a:pPr>
            <a:r>
              <a:rPr b="1" lang="en-US" sz="2800">
                <a:latin typeface="Cambria"/>
                <a:ea typeface="Cambria"/>
                <a:cs typeface="Cambria"/>
                <a:sym typeface="Cambria"/>
              </a:rPr>
              <a:t>DEPARTMENT OF INFORMATION SCIENCE &amp; ENGINEERING</a:t>
            </a:r>
            <a:endParaRPr sz="2800">
              <a:latin typeface="Cambria"/>
              <a:ea typeface="Cambria"/>
              <a:cs typeface="Cambria"/>
              <a:sym typeface="Cambria"/>
            </a:endParaRPr>
          </a:p>
        </p:txBody>
      </p:sp>
      <p:sp>
        <p:nvSpPr>
          <p:cNvPr id="51" name="Google Shape;51;p7"/>
          <p:cNvSpPr txBox="1"/>
          <p:nvPr/>
        </p:nvSpPr>
        <p:spPr>
          <a:xfrm>
            <a:off x="381000" y="1388129"/>
            <a:ext cx="11430000" cy="1885131"/>
          </a:xfrm>
          <a:prstGeom prst="rect">
            <a:avLst/>
          </a:prstGeom>
          <a:noFill/>
          <a:ln>
            <a:noFill/>
          </a:ln>
        </p:spPr>
        <p:txBody>
          <a:bodyPr anchorCtr="0" anchor="t" bIns="0" lIns="0" spcFirstLastPara="1" rIns="0" wrap="square" tIns="12700">
            <a:spAutoFit/>
          </a:bodyPr>
          <a:lstStyle/>
          <a:p>
            <a:pPr indent="0" lvl="0" marL="0" rtl="0" algn="ctr">
              <a:lnSpc>
                <a:spcPct val="100000"/>
              </a:lnSpc>
              <a:spcBef>
                <a:spcPts val="0"/>
              </a:spcBef>
              <a:spcAft>
                <a:spcPts val="0"/>
              </a:spcAft>
              <a:buNone/>
            </a:pPr>
            <a:r>
              <a:rPr b="1" lang="en-US" sz="3600">
                <a:latin typeface="Cambria"/>
                <a:ea typeface="Cambria"/>
                <a:cs typeface="Cambria"/>
                <a:sym typeface="Cambria"/>
              </a:rPr>
              <a:t>MAJOR PROJECT REVIEW (22IS76)</a:t>
            </a:r>
            <a:endParaRPr b="1" sz="3600">
              <a:latin typeface="Cambria"/>
              <a:ea typeface="Cambria"/>
              <a:cs typeface="Cambria"/>
              <a:sym typeface="Cambria"/>
            </a:endParaRPr>
          </a:p>
          <a:p>
            <a:pPr indent="0" lvl="0" marL="0" rtl="0" algn="ctr">
              <a:lnSpc>
                <a:spcPct val="100000"/>
              </a:lnSpc>
              <a:spcBef>
                <a:spcPts val="100"/>
              </a:spcBef>
              <a:spcAft>
                <a:spcPts val="0"/>
              </a:spcAft>
              <a:buNone/>
            </a:pPr>
            <a:r>
              <a:t/>
            </a:r>
            <a:endParaRPr b="1" sz="3600">
              <a:latin typeface="Cambria"/>
              <a:ea typeface="Cambria"/>
              <a:cs typeface="Cambria"/>
              <a:sym typeface="Cambria"/>
            </a:endParaRPr>
          </a:p>
          <a:p>
            <a:pPr indent="0" lvl="0" marL="0" rtl="0" algn="ctr">
              <a:lnSpc>
                <a:spcPct val="100000"/>
              </a:lnSpc>
              <a:spcBef>
                <a:spcPts val="100"/>
              </a:spcBef>
              <a:spcAft>
                <a:spcPts val="0"/>
              </a:spcAft>
              <a:buNone/>
            </a:pPr>
            <a:r>
              <a:rPr b="1" lang="en-US" sz="2400">
                <a:latin typeface="Cambria"/>
                <a:ea typeface="Cambria"/>
                <a:cs typeface="Cambria"/>
                <a:sym typeface="Cambria"/>
              </a:rPr>
              <a:t>Design and Implementation of a Smart Health Monitoring and Early Warning System for Water-Borne Diseases</a:t>
            </a:r>
            <a:endParaRPr b="1" sz="2400">
              <a:latin typeface="Cambria"/>
              <a:ea typeface="Cambria"/>
              <a:cs typeface="Cambria"/>
              <a:sym typeface="Cambria"/>
            </a:endParaRPr>
          </a:p>
        </p:txBody>
      </p:sp>
      <p:sp>
        <p:nvSpPr>
          <p:cNvPr id="52" name="Google Shape;52;p7"/>
          <p:cNvSpPr txBox="1"/>
          <p:nvPr/>
        </p:nvSpPr>
        <p:spPr>
          <a:xfrm>
            <a:off x="228600" y="4321888"/>
            <a:ext cx="2324100" cy="382156"/>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latin typeface="Cambria"/>
                <a:ea typeface="Cambria"/>
                <a:cs typeface="Cambria"/>
                <a:sym typeface="Cambria"/>
              </a:rPr>
              <a:t>Presented</a:t>
            </a:r>
            <a:r>
              <a:rPr lang="en-US" sz="2400">
                <a:latin typeface="Calibri"/>
                <a:ea typeface="Calibri"/>
                <a:cs typeface="Calibri"/>
                <a:sym typeface="Calibri"/>
              </a:rPr>
              <a:t> by:</a:t>
            </a:r>
            <a:endParaRPr sz="2400">
              <a:latin typeface="Calibri"/>
              <a:ea typeface="Calibri"/>
              <a:cs typeface="Calibri"/>
              <a:sym typeface="Calibri"/>
            </a:endParaRPr>
          </a:p>
        </p:txBody>
      </p:sp>
      <p:sp>
        <p:nvSpPr>
          <p:cNvPr id="53" name="Google Shape;53;p7"/>
          <p:cNvSpPr txBox="1"/>
          <p:nvPr/>
        </p:nvSpPr>
        <p:spPr>
          <a:xfrm>
            <a:off x="8100695" y="4307701"/>
            <a:ext cx="3710305" cy="382156"/>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latin typeface="Cambria"/>
                <a:ea typeface="Cambria"/>
                <a:cs typeface="Cambria"/>
                <a:sym typeface="Cambria"/>
              </a:rPr>
              <a:t>Under the guidance of:</a:t>
            </a:r>
            <a:endParaRPr sz="2400">
              <a:latin typeface="Cambria"/>
              <a:ea typeface="Cambria"/>
              <a:cs typeface="Cambria"/>
              <a:sym typeface="Cambria"/>
            </a:endParaRPr>
          </a:p>
        </p:txBody>
      </p:sp>
      <p:sp>
        <p:nvSpPr>
          <p:cNvPr id="54" name="Google Shape;54;p7"/>
          <p:cNvSpPr txBox="1"/>
          <p:nvPr/>
        </p:nvSpPr>
        <p:spPr>
          <a:xfrm>
            <a:off x="7239000" y="4719674"/>
            <a:ext cx="6172200" cy="1028487"/>
          </a:xfrm>
          <a:prstGeom prst="rect">
            <a:avLst/>
          </a:prstGeom>
          <a:noFill/>
          <a:ln>
            <a:noFill/>
          </a:ln>
        </p:spPr>
        <p:txBody>
          <a:bodyPr anchorCtr="0" anchor="t" bIns="0" lIns="0" spcFirstLastPara="1" rIns="0" wrap="square" tIns="12700">
            <a:spAutoFit/>
          </a:bodyPr>
          <a:lstStyle/>
          <a:p>
            <a:pPr indent="0" lvl="0" marL="770255" rtl="0" algn="l">
              <a:lnSpc>
                <a:spcPct val="100000"/>
              </a:lnSpc>
              <a:spcBef>
                <a:spcPts val="0"/>
              </a:spcBef>
              <a:spcAft>
                <a:spcPts val="0"/>
              </a:spcAft>
              <a:buNone/>
            </a:pPr>
            <a:r>
              <a:rPr lang="en-US" sz="2400">
                <a:latin typeface="Times New Roman"/>
                <a:ea typeface="Times New Roman"/>
                <a:cs typeface="Times New Roman"/>
                <a:sym typeface="Times New Roman"/>
              </a:rPr>
              <a:t>  </a:t>
            </a:r>
            <a:r>
              <a:rPr lang="en-US" sz="2100">
                <a:latin typeface="Times New Roman"/>
                <a:ea typeface="Times New Roman"/>
                <a:cs typeface="Times New Roman"/>
                <a:sym typeface="Times New Roman"/>
              </a:rPr>
              <a:t>Dr. Annapurna P Patil</a:t>
            </a:r>
            <a:endParaRPr sz="2100">
              <a:latin typeface="Times New Roman"/>
              <a:ea typeface="Times New Roman"/>
              <a:cs typeface="Times New Roman"/>
              <a:sym typeface="Times New Roman"/>
            </a:endParaRPr>
          </a:p>
          <a:p>
            <a:pPr indent="895350" lvl="0" marL="12700" marR="5080" rtl="0" algn="l">
              <a:lnSpc>
                <a:spcPct val="100000"/>
              </a:lnSpc>
              <a:spcBef>
                <a:spcPts val="0"/>
              </a:spcBef>
              <a:spcAft>
                <a:spcPts val="0"/>
              </a:spcAft>
              <a:buNone/>
            </a:pPr>
            <a:r>
              <a:rPr lang="en-US" sz="2100">
                <a:latin typeface="Times New Roman"/>
                <a:ea typeface="Times New Roman"/>
                <a:cs typeface="Times New Roman"/>
                <a:sym typeface="Times New Roman"/>
              </a:rPr>
              <a:t>HOD and Dean Academics</a:t>
            </a:r>
            <a:endParaRPr/>
          </a:p>
          <a:p>
            <a:pPr indent="895350" lvl="0" marL="12700" marR="5080" rtl="0" algn="l">
              <a:lnSpc>
                <a:spcPct val="100000"/>
              </a:lnSpc>
              <a:spcBef>
                <a:spcPts val="0"/>
              </a:spcBef>
              <a:spcAft>
                <a:spcPts val="0"/>
              </a:spcAft>
              <a:buNone/>
            </a:pPr>
            <a:r>
              <a:rPr lang="en-US" sz="2100">
                <a:latin typeface="Times New Roman"/>
                <a:ea typeface="Times New Roman"/>
                <a:cs typeface="Times New Roman"/>
                <a:sym typeface="Times New Roman"/>
              </a:rPr>
              <a:t>Dept. of ISE, DSCE, Bangalore</a:t>
            </a:r>
            <a:endParaRPr sz="2100">
              <a:latin typeface="Times New Roman"/>
              <a:ea typeface="Times New Roman"/>
              <a:cs typeface="Times New Roman"/>
              <a:sym typeface="Times New Roman"/>
            </a:endParaRPr>
          </a:p>
        </p:txBody>
      </p:sp>
      <p:sp>
        <p:nvSpPr>
          <p:cNvPr id="55" name="Google Shape;55;p7"/>
          <p:cNvSpPr txBox="1"/>
          <p:nvPr/>
        </p:nvSpPr>
        <p:spPr>
          <a:xfrm>
            <a:off x="228600" y="4713048"/>
            <a:ext cx="4648200" cy="1384995"/>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2100">
                <a:latin typeface="Times New Roman"/>
                <a:ea typeface="Times New Roman"/>
                <a:cs typeface="Times New Roman"/>
                <a:sym typeface="Times New Roman"/>
              </a:rPr>
              <a:t>Aadya Shrivastava :1DS22IS002</a:t>
            </a:r>
            <a:endParaRPr sz="2100">
              <a:latin typeface="Times New Roman"/>
              <a:ea typeface="Times New Roman"/>
              <a:cs typeface="Times New Roman"/>
              <a:sym typeface="Times New Roman"/>
            </a:endParaRPr>
          </a:p>
          <a:p>
            <a:pPr indent="0" lvl="0" marL="0" rtl="0" algn="l">
              <a:spcBef>
                <a:spcPts val="0"/>
              </a:spcBef>
              <a:spcAft>
                <a:spcPts val="0"/>
              </a:spcAft>
              <a:buNone/>
            </a:pPr>
            <a:r>
              <a:rPr lang="en-US" sz="2100">
                <a:latin typeface="Times New Roman"/>
                <a:ea typeface="Times New Roman"/>
                <a:cs typeface="Times New Roman"/>
                <a:sym typeface="Times New Roman"/>
              </a:rPr>
              <a:t>Amrutha : 1DS22IS016</a:t>
            </a:r>
            <a:endParaRPr/>
          </a:p>
          <a:p>
            <a:pPr indent="0" lvl="0" marL="0" rtl="0" algn="l">
              <a:spcBef>
                <a:spcPts val="0"/>
              </a:spcBef>
              <a:spcAft>
                <a:spcPts val="0"/>
              </a:spcAft>
              <a:buNone/>
            </a:pPr>
            <a:r>
              <a:rPr lang="en-US" sz="2100">
                <a:latin typeface="Times New Roman"/>
                <a:ea typeface="Times New Roman"/>
                <a:cs typeface="Times New Roman"/>
                <a:sym typeface="Times New Roman"/>
              </a:rPr>
              <a:t>Greasha Jain : 1DS22IS053</a:t>
            </a:r>
            <a:endParaRPr/>
          </a:p>
          <a:p>
            <a:pPr indent="0" lvl="0" marL="0" rtl="0" algn="l">
              <a:spcBef>
                <a:spcPts val="0"/>
              </a:spcBef>
              <a:spcAft>
                <a:spcPts val="0"/>
              </a:spcAft>
              <a:buNone/>
            </a:pPr>
            <a:r>
              <a:rPr lang="en-US" sz="2100">
                <a:latin typeface="Times New Roman"/>
                <a:ea typeface="Times New Roman"/>
                <a:cs typeface="Times New Roman"/>
                <a:sym typeface="Times New Roman"/>
              </a:rPr>
              <a:t>Vedant Balpande : 1DS22IS181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8"/>
          <p:cNvSpPr txBox="1"/>
          <p:nvPr>
            <p:ph type="title"/>
          </p:nvPr>
        </p:nvSpPr>
        <p:spPr>
          <a:xfrm>
            <a:off x="1349700" y="326641"/>
            <a:ext cx="10254615" cy="505267"/>
          </a:xfrm>
          <a:prstGeom prst="rect">
            <a:avLst/>
          </a:prstGeom>
          <a:noFill/>
          <a:ln>
            <a:noFill/>
          </a:ln>
        </p:spPr>
        <p:txBody>
          <a:bodyPr anchorCtr="0" anchor="t" bIns="0" lIns="0" spcFirstLastPara="1" rIns="0" wrap="square" tIns="12700">
            <a:spAutoFit/>
          </a:bodyPr>
          <a:lstStyle/>
          <a:p>
            <a:pPr indent="0" lvl="0" marL="3695700" rtl="0" algn="l">
              <a:lnSpc>
                <a:spcPct val="100000"/>
              </a:lnSpc>
              <a:spcBef>
                <a:spcPts val="0"/>
              </a:spcBef>
              <a:spcAft>
                <a:spcPts val="0"/>
              </a:spcAft>
              <a:buNone/>
            </a:pPr>
            <a:r>
              <a:rPr b="1" lang="en-US">
                <a:latin typeface="Cambria"/>
                <a:ea typeface="Cambria"/>
                <a:cs typeface="Cambria"/>
                <a:sym typeface="Cambria"/>
              </a:rPr>
              <a:t>CONTENTS</a:t>
            </a:r>
            <a:endParaRPr/>
          </a:p>
        </p:txBody>
      </p:sp>
      <p:sp>
        <p:nvSpPr>
          <p:cNvPr id="62" name="Google Shape;62;p8"/>
          <p:cNvSpPr txBox="1"/>
          <p:nvPr>
            <p:ph idx="10" type="dt"/>
          </p:nvPr>
        </p:nvSpPr>
        <p:spPr>
          <a:xfrm>
            <a:off x="179689" y="6441110"/>
            <a:ext cx="1124585" cy="436017"/>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25-04-2025</a:t>
            </a:r>
            <a:endParaRPr/>
          </a:p>
          <a:p>
            <a:pPr indent="0" lvl="0" marL="12700" rtl="0" algn="l">
              <a:lnSpc>
                <a:spcPct val="104000"/>
              </a:lnSpc>
              <a:spcBef>
                <a:spcPts val="0"/>
              </a:spcBef>
              <a:spcAft>
                <a:spcPts val="0"/>
              </a:spcAft>
              <a:buNone/>
            </a:pPr>
            <a:r>
              <a:t/>
            </a:r>
            <a:endParaRPr/>
          </a:p>
        </p:txBody>
      </p:sp>
      <p:sp>
        <p:nvSpPr>
          <p:cNvPr id="63" name="Google Shape;63;p8"/>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Department of Information Science &amp; Engineering</a:t>
            </a:r>
            <a:endParaRPr/>
          </a:p>
        </p:txBody>
      </p:sp>
      <p:sp>
        <p:nvSpPr>
          <p:cNvPr id="64" name="Google Shape;64;p8"/>
          <p:cNvSpPr txBox="1"/>
          <p:nvPr>
            <p:ph idx="12" type="sldNum"/>
          </p:nvPr>
        </p:nvSpPr>
        <p:spPr>
          <a:xfrm>
            <a:off x="11841188" y="6441110"/>
            <a:ext cx="209550" cy="229234"/>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sp>
        <p:nvSpPr>
          <p:cNvPr id="65" name="Google Shape;65;p8"/>
          <p:cNvSpPr txBox="1"/>
          <p:nvPr>
            <p:ph idx="1" type="body"/>
          </p:nvPr>
        </p:nvSpPr>
        <p:spPr>
          <a:xfrm>
            <a:off x="1066800" y="1169167"/>
            <a:ext cx="8464500" cy="4935900"/>
          </a:xfrm>
          <a:prstGeom prst="rect">
            <a:avLst/>
          </a:prstGeom>
          <a:noFill/>
          <a:ln>
            <a:noFill/>
          </a:ln>
        </p:spPr>
        <p:txBody>
          <a:bodyPr anchorCtr="0" anchor="t" bIns="0" lIns="0" spcFirstLastPara="1" rIns="0" wrap="square" tIns="241300">
            <a:spAutoFit/>
          </a:bodyPr>
          <a:lstStyle/>
          <a:p>
            <a:pPr indent="-579755" lvl="0" marL="592455" rtl="0" algn="l">
              <a:lnSpc>
                <a:spcPct val="100000"/>
              </a:lnSpc>
              <a:spcBef>
                <a:spcPts val="0"/>
              </a:spcBef>
              <a:spcAft>
                <a:spcPts val="0"/>
              </a:spcAft>
              <a:buClr>
                <a:schemeClr val="dk1"/>
              </a:buClr>
              <a:buSzPts val="1333"/>
              <a:buFont typeface="Cambria"/>
              <a:buAutoNum type="arabicPeriod"/>
            </a:pPr>
            <a:r>
              <a:rPr lang="en-US" sz="2000">
                <a:latin typeface="Cambria"/>
                <a:ea typeface="Cambria"/>
                <a:cs typeface="Cambria"/>
                <a:sym typeface="Cambria"/>
              </a:rPr>
              <a:t>Abstract</a:t>
            </a:r>
            <a:endParaRPr/>
          </a:p>
          <a:p>
            <a:pPr indent="-579755" lvl="0" marL="592455" rtl="0" algn="l">
              <a:lnSpc>
                <a:spcPct val="100000"/>
              </a:lnSpc>
              <a:spcBef>
                <a:spcPts val="1900"/>
              </a:spcBef>
              <a:spcAft>
                <a:spcPts val="0"/>
              </a:spcAft>
              <a:buClr>
                <a:schemeClr val="dk1"/>
              </a:buClr>
              <a:buSzPts val="1333"/>
              <a:buFont typeface="Cambria"/>
              <a:buAutoNum type="arabicPeriod"/>
            </a:pPr>
            <a:r>
              <a:rPr lang="en-US" sz="2000">
                <a:latin typeface="Cambria"/>
                <a:ea typeface="Cambria"/>
                <a:cs typeface="Cambria"/>
                <a:sym typeface="Cambria"/>
              </a:rPr>
              <a:t>Introduction</a:t>
            </a:r>
            <a:endParaRPr/>
          </a:p>
          <a:p>
            <a:pPr indent="-579755" lvl="0" marL="592455" rtl="0" algn="l">
              <a:spcBef>
                <a:spcPts val="1800"/>
              </a:spcBef>
              <a:spcAft>
                <a:spcPts val="0"/>
              </a:spcAft>
              <a:buClr>
                <a:schemeClr val="dk1"/>
              </a:buClr>
              <a:buSzPts val="1333"/>
              <a:buFont typeface="Cambria"/>
              <a:buAutoNum type="arabicPeriod"/>
            </a:pPr>
            <a:r>
              <a:rPr lang="en-US" sz="2000">
                <a:latin typeface="Cambria"/>
                <a:ea typeface="Cambria"/>
                <a:cs typeface="Cambria"/>
                <a:sym typeface="Cambria"/>
              </a:rPr>
              <a:t>Literature Survey</a:t>
            </a:r>
            <a:endParaRPr/>
          </a:p>
          <a:p>
            <a:pPr indent="-579755" lvl="0" marL="592455" rtl="0" algn="l">
              <a:lnSpc>
                <a:spcPct val="100000"/>
              </a:lnSpc>
              <a:spcBef>
                <a:spcPts val="1800"/>
              </a:spcBef>
              <a:spcAft>
                <a:spcPts val="0"/>
              </a:spcAft>
              <a:buClr>
                <a:schemeClr val="dk1"/>
              </a:buClr>
              <a:buSzPts val="1333"/>
              <a:buFont typeface="Cambria"/>
              <a:buAutoNum type="arabicPeriod"/>
            </a:pPr>
            <a:r>
              <a:rPr lang="en-US" sz="2000">
                <a:latin typeface="Cambria"/>
                <a:ea typeface="Cambria"/>
                <a:cs typeface="Cambria"/>
                <a:sym typeface="Cambria"/>
              </a:rPr>
              <a:t>Problem Statement</a:t>
            </a:r>
            <a:endParaRPr sz="2000">
              <a:latin typeface="Cambria"/>
              <a:ea typeface="Cambria"/>
              <a:cs typeface="Cambria"/>
              <a:sym typeface="Cambria"/>
            </a:endParaRPr>
          </a:p>
          <a:p>
            <a:pPr indent="-579755" lvl="0" marL="592455" rtl="0" algn="l">
              <a:lnSpc>
                <a:spcPct val="100000"/>
              </a:lnSpc>
              <a:spcBef>
                <a:spcPts val="1800"/>
              </a:spcBef>
              <a:spcAft>
                <a:spcPts val="0"/>
              </a:spcAft>
              <a:buClr>
                <a:schemeClr val="dk1"/>
              </a:buClr>
              <a:buSzPts val="1333"/>
              <a:buFont typeface="Cambria"/>
              <a:buAutoNum type="arabicPeriod"/>
            </a:pPr>
            <a:r>
              <a:rPr lang="en-US" sz="2000">
                <a:latin typeface="Cambria"/>
                <a:ea typeface="Cambria"/>
                <a:cs typeface="Cambria"/>
                <a:sym typeface="Cambria"/>
              </a:rPr>
              <a:t>Hardware &amp; Software Requirements Specification</a:t>
            </a:r>
            <a:endParaRPr/>
          </a:p>
          <a:p>
            <a:pPr indent="-579755" lvl="0" marL="592455" rtl="0" algn="l">
              <a:lnSpc>
                <a:spcPct val="100000"/>
              </a:lnSpc>
              <a:spcBef>
                <a:spcPts val="1800"/>
              </a:spcBef>
              <a:spcAft>
                <a:spcPts val="0"/>
              </a:spcAft>
              <a:buClr>
                <a:schemeClr val="dk1"/>
              </a:buClr>
              <a:buSzPts val="1333"/>
              <a:buFont typeface="Cambria"/>
              <a:buAutoNum type="arabicPeriod"/>
            </a:pPr>
            <a:r>
              <a:rPr lang="en-US" sz="2000">
                <a:latin typeface="Cambria"/>
                <a:ea typeface="Cambria"/>
                <a:cs typeface="Cambria"/>
                <a:sym typeface="Cambria"/>
              </a:rPr>
              <a:t>System Design &amp; Methodology</a:t>
            </a:r>
            <a:endParaRPr/>
          </a:p>
          <a:p>
            <a:pPr indent="-579755" lvl="0" marL="592455" rtl="0" algn="l">
              <a:lnSpc>
                <a:spcPct val="100000"/>
              </a:lnSpc>
              <a:spcBef>
                <a:spcPts val="1800"/>
              </a:spcBef>
              <a:spcAft>
                <a:spcPts val="0"/>
              </a:spcAft>
              <a:buClr>
                <a:schemeClr val="dk1"/>
              </a:buClr>
              <a:buSzPts val="1333"/>
              <a:buFont typeface="Cambria"/>
              <a:buAutoNum type="arabicPeriod"/>
            </a:pPr>
            <a:r>
              <a:rPr lang="en-US" sz="2000">
                <a:latin typeface="Cambria"/>
                <a:ea typeface="Cambria"/>
                <a:cs typeface="Cambria"/>
                <a:sym typeface="Cambria"/>
              </a:rPr>
              <a:t>Expected Outcomes</a:t>
            </a:r>
            <a:endParaRPr sz="2000">
              <a:latin typeface="Cambria"/>
              <a:ea typeface="Cambria"/>
              <a:cs typeface="Cambria"/>
              <a:sym typeface="Cambria"/>
            </a:endParaRPr>
          </a:p>
          <a:p>
            <a:pPr indent="0" lvl="0" marL="0" rtl="0" algn="l">
              <a:lnSpc>
                <a:spcPct val="100000"/>
              </a:lnSpc>
              <a:spcBef>
                <a:spcPts val="1800"/>
              </a:spcBef>
              <a:spcAft>
                <a:spcPts val="0"/>
              </a:spcAft>
              <a:buNone/>
            </a:pPr>
            <a:r>
              <a:rPr lang="en-US" sz="2000">
                <a:latin typeface="Cambria"/>
                <a:ea typeface="Cambria"/>
                <a:cs typeface="Cambria"/>
                <a:sym typeface="Cambria"/>
              </a:rPr>
              <a:t>           References  </a:t>
            </a:r>
            <a:endParaRPr/>
          </a:p>
          <a:p>
            <a:pPr indent="0" lvl="0" marL="12700" rtl="0" algn="l">
              <a:lnSpc>
                <a:spcPct val="100000"/>
              </a:lnSpc>
              <a:spcBef>
                <a:spcPts val="1800"/>
              </a:spcBef>
              <a:spcAft>
                <a:spcPts val="0"/>
              </a:spcAft>
              <a:buNone/>
            </a:pPr>
            <a:r>
              <a:t/>
            </a:r>
            <a:endParaRPr sz="2400">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9"/>
          <p:cNvSpPr txBox="1"/>
          <p:nvPr>
            <p:ph type="title"/>
          </p:nvPr>
        </p:nvSpPr>
        <p:spPr>
          <a:xfrm>
            <a:off x="1349700" y="326641"/>
            <a:ext cx="10254615" cy="505267"/>
          </a:xfrm>
          <a:prstGeom prst="rect">
            <a:avLst/>
          </a:prstGeom>
          <a:noFill/>
          <a:ln>
            <a:noFill/>
          </a:ln>
        </p:spPr>
        <p:txBody>
          <a:bodyPr anchorCtr="0" anchor="t" bIns="0" lIns="0" spcFirstLastPara="1" rIns="0" wrap="square" tIns="12700">
            <a:spAutoFit/>
          </a:bodyPr>
          <a:lstStyle/>
          <a:p>
            <a:pPr indent="0" lvl="0" marL="3695700" rtl="0" algn="l">
              <a:lnSpc>
                <a:spcPct val="100000"/>
              </a:lnSpc>
              <a:spcBef>
                <a:spcPts val="0"/>
              </a:spcBef>
              <a:spcAft>
                <a:spcPts val="0"/>
              </a:spcAft>
              <a:buNone/>
            </a:pPr>
            <a:r>
              <a:rPr b="1" lang="en-US">
                <a:latin typeface="Cambria"/>
                <a:ea typeface="Cambria"/>
                <a:cs typeface="Cambria"/>
                <a:sym typeface="Cambria"/>
              </a:rPr>
              <a:t>ABSTRACT</a:t>
            </a:r>
            <a:endParaRPr b="1">
              <a:latin typeface="Cambria"/>
              <a:ea typeface="Cambria"/>
              <a:cs typeface="Cambria"/>
              <a:sym typeface="Cambria"/>
            </a:endParaRPr>
          </a:p>
        </p:txBody>
      </p:sp>
      <p:sp>
        <p:nvSpPr>
          <p:cNvPr id="71" name="Google Shape;71;p9"/>
          <p:cNvSpPr txBox="1"/>
          <p:nvPr>
            <p:ph idx="10" type="dt"/>
          </p:nvPr>
        </p:nvSpPr>
        <p:spPr>
          <a:xfrm>
            <a:off x="179689" y="6441110"/>
            <a:ext cx="1124585" cy="436017"/>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25-04-2025</a:t>
            </a:r>
            <a:endParaRPr/>
          </a:p>
          <a:p>
            <a:pPr indent="0" lvl="0" marL="12700" rtl="0" algn="l">
              <a:lnSpc>
                <a:spcPct val="104000"/>
              </a:lnSpc>
              <a:spcBef>
                <a:spcPts val="0"/>
              </a:spcBef>
              <a:spcAft>
                <a:spcPts val="0"/>
              </a:spcAft>
              <a:buNone/>
            </a:pPr>
            <a:r>
              <a:t/>
            </a:r>
            <a:endParaRPr/>
          </a:p>
        </p:txBody>
      </p:sp>
      <p:sp>
        <p:nvSpPr>
          <p:cNvPr id="72" name="Google Shape;72;p9"/>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Department of Information Science &amp; Engineering</a:t>
            </a:r>
            <a:endParaRPr/>
          </a:p>
        </p:txBody>
      </p:sp>
      <p:sp>
        <p:nvSpPr>
          <p:cNvPr id="73" name="Google Shape;73;p9"/>
          <p:cNvSpPr txBox="1"/>
          <p:nvPr>
            <p:ph idx="12" type="sldNum"/>
          </p:nvPr>
        </p:nvSpPr>
        <p:spPr>
          <a:xfrm>
            <a:off x="11841188" y="6441110"/>
            <a:ext cx="209550" cy="229234"/>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sp>
        <p:nvSpPr>
          <p:cNvPr id="74" name="Google Shape;74;p9"/>
          <p:cNvSpPr txBox="1"/>
          <p:nvPr>
            <p:ph idx="1" type="body"/>
          </p:nvPr>
        </p:nvSpPr>
        <p:spPr>
          <a:xfrm>
            <a:off x="1349690" y="1357617"/>
            <a:ext cx="10439400" cy="3783900"/>
          </a:xfrm>
          <a:prstGeom prst="rect">
            <a:avLst/>
          </a:prstGeom>
          <a:noFill/>
          <a:ln>
            <a:noFill/>
          </a:ln>
        </p:spPr>
        <p:txBody>
          <a:bodyPr anchorCtr="0" anchor="t" bIns="0" lIns="0" spcFirstLastPara="1" rIns="0" wrap="square" tIns="241300">
            <a:spAutoFit/>
          </a:bodyPr>
          <a:lstStyle/>
          <a:p>
            <a:pPr indent="0" lvl="0" marL="12700" rtl="0" algn="just">
              <a:lnSpc>
                <a:spcPct val="150000"/>
              </a:lnSpc>
              <a:spcBef>
                <a:spcPts val="0"/>
              </a:spcBef>
              <a:spcAft>
                <a:spcPts val="0"/>
              </a:spcAft>
              <a:buNone/>
            </a:pPr>
            <a:r>
              <a:rPr lang="en-US" sz="2000">
                <a:latin typeface="Times New Roman"/>
                <a:ea typeface="Times New Roman"/>
                <a:cs typeface="Times New Roman"/>
                <a:sym typeface="Times New Roman"/>
              </a:rPr>
              <a:t>This project aims to develop a web-based Smart Community Health Monitoring and Early Warning System for water-borne diseases in rural areas. It collects health data from local volunteers and health workers, uses AI/ML (Ensemble Model) to predict potential outbreaks, and provides real-time alerts and dashboards for health authorities. The platform also includes educational modules to raise community awareness about hygiene and disease prevention. Designed for accessibility, it supports local languages, enabling timely interventions and improved public health in remote areas. Smart Health Monitoring, Water-Borne Diseases, Early Warning System, Rural Health, Disease Prediction, Community Awareness.</a:t>
            </a:r>
            <a:endParaRPr sz="20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0"/>
          <p:cNvSpPr txBox="1"/>
          <p:nvPr>
            <p:ph type="title"/>
          </p:nvPr>
        </p:nvSpPr>
        <p:spPr>
          <a:xfrm>
            <a:off x="1349700" y="326641"/>
            <a:ext cx="10254615" cy="984885"/>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US">
                <a:latin typeface="Cambria"/>
                <a:ea typeface="Cambria"/>
                <a:cs typeface="Cambria"/>
                <a:sym typeface="Cambria"/>
              </a:rPr>
              <a:t>Introduction</a:t>
            </a:r>
            <a:br>
              <a:rPr lang="en-US">
                <a:latin typeface="Cambria"/>
                <a:ea typeface="Cambria"/>
                <a:cs typeface="Cambria"/>
                <a:sym typeface="Cambria"/>
              </a:rPr>
            </a:br>
            <a:endParaRPr/>
          </a:p>
        </p:txBody>
      </p:sp>
      <p:sp>
        <p:nvSpPr>
          <p:cNvPr id="80" name="Google Shape;80;p10"/>
          <p:cNvSpPr txBox="1"/>
          <p:nvPr>
            <p:ph idx="1" type="body"/>
          </p:nvPr>
        </p:nvSpPr>
        <p:spPr>
          <a:xfrm>
            <a:off x="1326995" y="1606190"/>
            <a:ext cx="10299900" cy="3540300"/>
          </a:xfrm>
          <a:prstGeom prst="rect">
            <a:avLst/>
          </a:prstGeom>
          <a:noFill/>
          <a:ln>
            <a:noFill/>
          </a:ln>
        </p:spPr>
        <p:txBody>
          <a:bodyPr anchorCtr="0" anchor="t" bIns="0" lIns="0" spcFirstLastPara="1" rIns="0" wrap="square" tIns="0">
            <a:spAutoFit/>
          </a:bodyPr>
          <a:lstStyle/>
          <a:p>
            <a:pPr indent="0" lvl="0" marL="0" rtl="0" algn="just">
              <a:lnSpc>
                <a:spcPct val="150000"/>
              </a:lnSpc>
              <a:spcBef>
                <a:spcPts val="0"/>
              </a:spcBef>
              <a:spcAft>
                <a:spcPts val="0"/>
              </a:spcAft>
              <a:buNone/>
            </a:pPr>
            <a:r>
              <a:rPr lang="en-US" sz="2000">
                <a:latin typeface="Times New Roman"/>
                <a:ea typeface="Times New Roman"/>
                <a:cs typeface="Times New Roman"/>
                <a:sym typeface="Times New Roman"/>
              </a:rPr>
              <a:t>The project titled “Design and Implementation of a Smart Community Health Monitoring and Early Warning System for Water-Borne Diseases in Rural Areas” focuses on using AI/ML and data analytics to strengthen public health surveillance in rural regions. Due to limited healthcare access, early detection of water-borne diseases often becomes difficult. This system continuously collects and analyzes environmental and health data to identify potential outbreaks and send timely alerts to health authorities. By enabling early intervention and preventive action, the project aims to reduce disease spread and improve community health outcomes through a smart, technology-driven approach.</a:t>
            </a:r>
            <a:endParaRPr sz="2000">
              <a:latin typeface="Times New Roman"/>
              <a:ea typeface="Times New Roman"/>
              <a:cs typeface="Times New Roman"/>
              <a:sym typeface="Times New Roman"/>
            </a:endParaRPr>
          </a:p>
        </p:txBody>
      </p:sp>
      <p:sp>
        <p:nvSpPr>
          <p:cNvPr id="81" name="Google Shape;81;p10"/>
          <p:cNvSpPr txBox="1"/>
          <p:nvPr>
            <p:ph idx="10" type="dt"/>
          </p:nvPr>
        </p:nvSpPr>
        <p:spPr>
          <a:xfrm>
            <a:off x="179689" y="6441110"/>
            <a:ext cx="1124585" cy="436017"/>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25-04-2025</a:t>
            </a:r>
            <a:endParaRPr/>
          </a:p>
          <a:p>
            <a:pPr indent="0" lvl="0" marL="12700" rtl="0" algn="l">
              <a:lnSpc>
                <a:spcPct val="104000"/>
              </a:lnSpc>
              <a:spcBef>
                <a:spcPts val="0"/>
              </a:spcBef>
              <a:spcAft>
                <a:spcPts val="0"/>
              </a:spcAft>
              <a:buNone/>
            </a:pPr>
            <a:r>
              <a:t/>
            </a:r>
            <a:endParaRPr/>
          </a:p>
        </p:txBody>
      </p:sp>
      <p:sp>
        <p:nvSpPr>
          <p:cNvPr id="82" name="Google Shape;82;p10"/>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Department of Information Science &amp; Engineering</a:t>
            </a:r>
            <a:endParaRPr/>
          </a:p>
        </p:txBody>
      </p:sp>
      <p:sp>
        <p:nvSpPr>
          <p:cNvPr id="83" name="Google Shape;83;p10"/>
          <p:cNvSpPr txBox="1"/>
          <p:nvPr>
            <p:ph idx="12" type="sldNum"/>
          </p:nvPr>
        </p:nvSpPr>
        <p:spPr>
          <a:xfrm>
            <a:off x="11841188" y="6441110"/>
            <a:ext cx="209550" cy="229234"/>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1"/>
          <p:cNvSpPr txBox="1"/>
          <p:nvPr>
            <p:ph type="title"/>
          </p:nvPr>
        </p:nvSpPr>
        <p:spPr>
          <a:xfrm>
            <a:off x="1349700" y="326641"/>
            <a:ext cx="10254615" cy="492443"/>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US">
                <a:latin typeface="Cambria"/>
                <a:ea typeface="Cambria"/>
                <a:cs typeface="Cambria"/>
                <a:sym typeface="Cambria"/>
              </a:rPr>
              <a:t>LITERATURE SURVEY</a:t>
            </a:r>
            <a:endParaRPr b="1">
              <a:latin typeface="Cambria"/>
              <a:ea typeface="Cambria"/>
              <a:cs typeface="Cambria"/>
              <a:sym typeface="Cambria"/>
            </a:endParaRPr>
          </a:p>
        </p:txBody>
      </p:sp>
      <p:sp>
        <p:nvSpPr>
          <p:cNvPr id="89" name="Google Shape;89;p11"/>
          <p:cNvSpPr txBox="1"/>
          <p:nvPr>
            <p:ph idx="10" type="dt"/>
          </p:nvPr>
        </p:nvSpPr>
        <p:spPr>
          <a:xfrm>
            <a:off x="179689" y="6441110"/>
            <a:ext cx="1124585" cy="436017"/>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25-04-2025</a:t>
            </a:r>
            <a:endParaRPr/>
          </a:p>
          <a:p>
            <a:pPr indent="0" lvl="0" marL="12700" rtl="0" algn="l">
              <a:lnSpc>
                <a:spcPct val="104000"/>
              </a:lnSpc>
              <a:spcBef>
                <a:spcPts val="0"/>
              </a:spcBef>
              <a:spcAft>
                <a:spcPts val="0"/>
              </a:spcAft>
              <a:buNone/>
            </a:pPr>
            <a:r>
              <a:t/>
            </a:r>
            <a:endParaRPr/>
          </a:p>
        </p:txBody>
      </p:sp>
      <p:sp>
        <p:nvSpPr>
          <p:cNvPr id="90" name="Google Shape;90;p11"/>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Department of Information Science &amp; Engineering</a:t>
            </a:r>
            <a:endParaRPr/>
          </a:p>
        </p:txBody>
      </p:sp>
      <p:sp>
        <p:nvSpPr>
          <p:cNvPr id="91" name="Google Shape;91;p11"/>
          <p:cNvSpPr txBox="1"/>
          <p:nvPr>
            <p:ph idx="12" type="sldNum"/>
          </p:nvPr>
        </p:nvSpPr>
        <p:spPr>
          <a:xfrm>
            <a:off x="11841188" y="6441110"/>
            <a:ext cx="209550" cy="229234"/>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graphicFrame>
        <p:nvGraphicFramePr>
          <p:cNvPr id="92" name="Google Shape;92;p11"/>
          <p:cNvGraphicFramePr/>
          <p:nvPr/>
        </p:nvGraphicFramePr>
        <p:xfrm>
          <a:off x="1304275" y="1548650"/>
          <a:ext cx="3000000" cy="3000000"/>
        </p:xfrm>
        <a:graphic>
          <a:graphicData uri="http://schemas.openxmlformats.org/drawingml/2006/table">
            <a:tbl>
              <a:tblPr>
                <a:noFill/>
                <a:tableStyleId>{C7D9A46C-16F7-4A65-BBF8-6DA9B211B52B}</a:tableStyleId>
              </a:tblPr>
              <a:tblGrid>
                <a:gridCol w="1075675"/>
                <a:gridCol w="1919725"/>
                <a:gridCol w="1497700"/>
                <a:gridCol w="1497700"/>
                <a:gridCol w="1497700"/>
                <a:gridCol w="1497700"/>
                <a:gridCol w="1497700"/>
              </a:tblGrid>
              <a:tr h="708075">
                <a:tc>
                  <a:txBody>
                    <a:bodyPr/>
                    <a:lstStyle/>
                    <a:p>
                      <a:pPr indent="0" lvl="0" marL="0" rtl="0" algn="ctr">
                        <a:spcBef>
                          <a:spcPts val="0"/>
                        </a:spcBef>
                        <a:spcAft>
                          <a:spcPts val="0"/>
                        </a:spcAft>
                        <a:buNone/>
                      </a:pPr>
                      <a:r>
                        <a:rPr b="1" lang="en-US" sz="1200">
                          <a:latin typeface="Times"/>
                          <a:ea typeface="Times"/>
                          <a:cs typeface="Times"/>
                          <a:sym typeface="Times"/>
                        </a:rPr>
                        <a:t>Sl. No.</a:t>
                      </a:r>
                      <a:endParaRPr b="1" sz="12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US" sz="1200">
                          <a:latin typeface="Times"/>
                          <a:ea typeface="Times"/>
                          <a:cs typeface="Times"/>
                          <a:sym typeface="Times"/>
                        </a:rPr>
                        <a:t>Title</a:t>
                      </a:r>
                      <a:endParaRPr b="1" sz="1200">
                        <a:latin typeface="Times"/>
                        <a:ea typeface="Times"/>
                        <a:cs typeface="Times"/>
                        <a:sym typeface="Times"/>
                      </a:endParaRPr>
                    </a:p>
                  </a:txBody>
                  <a:tcPr marT="91425" marB="91425" marR="91425" marL="91425" anchor="ctr"/>
                </a:tc>
                <a:tc>
                  <a:txBody>
                    <a:bodyPr/>
                    <a:lstStyle/>
                    <a:p>
                      <a:pPr indent="0" lvl="0" marL="0" rtl="0" algn="ctr">
                        <a:spcBef>
                          <a:spcPts val="0"/>
                        </a:spcBef>
                        <a:spcAft>
                          <a:spcPts val="0"/>
                        </a:spcAft>
                        <a:buNone/>
                      </a:pPr>
                      <a:r>
                        <a:rPr b="1" lang="en-US" sz="1200">
                          <a:latin typeface="Times"/>
                          <a:ea typeface="Times"/>
                          <a:cs typeface="Times"/>
                          <a:sym typeface="Times"/>
                        </a:rPr>
                        <a:t>Author</a:t>
                      </a:r>
                      <a:endParaRPr b="1" sz="1200">
                        <a:latin typeface="Times"/>
                        <a:ea typeface="Times"/>
                        <a:cs typeface="Times"/>
                        <a:sym typeface="Times"/>
                      </a:endParaRPr>
                    </a:p>
                  </a:txBody>
                  <a:tcPr marT="91425" marB="91425" marR="91425" marL="91425" anchor="ctr"/>
                </a:tc>
                <a:tc>
                  <a:txBody>
                    <a:bodyPr/>
                    <a:lstStyle/>
                    <a:p>
                      <a:pPr indent="0" lvl="0" marL="0" rtl="0" algn="ctr">
                        <a:lnSpc>
                          <a:spcPct val="150000"/>
                        </a:lnSpc>
                        <a:spcBef>
                          <a:spcPts val="0"/>
                        </a:spcBef>
                        <a:spcAft>
                          <a:spcPts val="0"/>
                        </a:spcAft>
                        <a:buNone/>
                      </a:pPr>
                      <a:r>
                        <a:rPr b="1" lang="en-US" sz="1200">
                          <a:solidFill>
                            <a:schemeClr val="dk1"/>
                          </a:solidFill>
                          <a:latin typeface="Times New Roman"/>
                          <a:ea typeface="Times New Roman"/>
                          <a:cs typeface="Times New Roman"/>
                          <a:sym typeface="Times New Roman"/>
                        </a:rPr>
                        <a:t>Algorithms / Technique Used</a:t>
                      </a:r>
                      <a:endParaRPr b="1" sz="1200">
                        <a:latin typeface="Times"/>
                        <a:ea typeface="Times"/>
                        <a:cs typeface="Times"/>
                        <a:sym typeface="Times"/>
                      </a:endParaRPr>
                    </a:p>
                  </a:txBody>
                  <a:tcPr marT="91425" marB="91425" marR="91425" marL="91425" anchor="ctr"/>
                </a:tc>
                <a:tc>
                  <a:txBody>
                    <a:bodyPr/>
                    <a:lstStyle/>
                    <a:p>
                      <a:pPr indent="0" lvl="0" marL="0" rtl="0" algn="ctr">
                        <a:lnSpc>
                          <a:spcPct val="150000"/>
                        </a:lnSpc>
                        <a:spcBef>
                          <a:spcPts val="0"/>
                        </a:spcBef>
                        <a:spcAft>
                          <a:spcPts val="0"/>
                        </a:spcAft>
                        <a:buNone/>
                      </a:pPr>
                      <a:r>
                        <a:rPr b="1" lang="en-US" sz="1200">
                          <a:solidFill>
                            <a:schemeClr val="dk1"/>
                          </a:solidFill>
                          <a:latin typeface="Times New Roman"/>
                          <a:ea typeface="Times New Roman"/>
                          <a:cs typeface="Times New Roman"/>
                          <a:sym typeface="Times New Roman"/>
                        </a:rPr>
                        <a:t>Merits</a:t>
                      </a:r>
                      <a:endParaRPr b="1" sz="1200">
                        <a:latin typeface="Times"/>
                        <a:ea typeface="Times"/>
                        <a:cs typeface="Times"/>
                        <a:sym typeface="Times"/>
                      </a:endParaRPr>
                    </a:p>
                  </a:txBody>
                  <a:tcPr marT="91425" marB="91425" marR="91425" marL="91425" anchor="ctr"/>
                </a:tc>
                <a:tc>
                  <a:txBody>
                    <a:bodyPr/>
                    <a:lstStyle/>
                    <a:p>
                      <a:pPr indent="0" lvl="0" marL="0" rtl="0" algn="ctr">
                        <a:lnSpc>
                          <a:spcPct val="150000"/>
                        </a:lnSpc>
                        <a:spcBef>
                          <a:spcPts val="0"/>
                        </a:spcBef>
                        <a:spcAft>
                          <a:spcPts val="0"/>
                        </a:spcAft>
                        <a:buNone/>
                      </a:pPr>
                      <a:r>
                        <a:rPr b="1" lang="en-US" sz="1200">
                          <a:solidFill>
                            <a:schemeClr val="dk1"/>
                          </a:solidFill>
                          <a:latin typeface="Times New Roman"/>
                          <a:ea typeface="Times New Roman"/>
                          <a:cs typeface="Times New Roman"/>
                          <a:sym typeface="Times New Roman"/>
                        </a:rPr>
                        <a:t>Demerits / Limitations</a:t>
                      </a:r>
                      <a:endParaRPr b="1" sz="1200">
                        <a:latin typeface="Times"/>
                        <a:ea typeface="Times"/>
                        <a:cs typeface="Times"/>
                        <a:sym typeface="Times"/>
                      </a:endParaRPr>
                    </a:p>
                  </a:txBody>
                  <a:tcPr marT="91425" marB="91425" marR="91425" marL="91425" anchor="ctr"/>
                </a:tc>
                <a:tc>
                  <a:txBody>
                    <a:bodyPr/>
                    <a:lstStyle/>
                    <a:p>
                      <a:pPr indent="0" lvl="0" marL="0" rtl="0" algn="ctr">
                        <a:lnSpc>
                          <a:spcPct val="150000"/>
                        </a:lnSpc>
                        <a:spcBef>
                          <a:spcPts val="0"/>
                        </a:spcBef>
                        <a:spcAft>
                          <a:spcPts val="0"/>
                        </a:spcAft>
                        <a:buClr>
                          <a:schemeClr val="dk1"/>
                        </a:buClr>
                        <a:buSzPts val="1100"/>
                        <a:buFont typeface="Arial"/>
                        <a:buNone/>
                      </a:pPr>
                      <a:r>
                        <a:rPr b="1" lang="en-US" sz="1200">
                          <a:solidFill>
                            <a:schemeClr val="dk1"/>
                          </a:solidFill>
                          <a:latin typeface="Times New Roman"/>
                          <a:ea typeface="Times New Roman"/>
                          <a:cs typeface="Times New Roman"/>
                          <a:sym typeface="Times New Roman"/>
                        </a:rPr>
                        <a:t>Date of Publication</a:t>
                      </a:r>
                      <a:endParaRPr b="1" sz="1200">
                        <a:latin typeface="Times"/>
                        <a:ea typeface="Times"/>
                        <a:cs typeface="Times"/>
                        <a:sym typeface="Times"/>
                      </a:endParaRPr>
                    </a:p>
                  </a:txBody>
                  <a:tcPr marT="91425" marB="91425" marR="91425" marL="91425" anchor="ctr"/>
                </a:tc>
              </a:tr>
              <a:tr h="1203975">
                <a:tc>
                  <a:txBody>
                    <a:bodyPr/>
                    <a:lstStyle/>
                    <a:p>
                      <a:pPr indent="0" lvl="0" marL="0" rtl="0" algn="ctr">
                        <a:spcBef>
                          <a:spcPts val="0"/>
                        </a:spcBef>
                        <a:spcAft>
                          <a:spcPts val="0"/>
                        </a:spcAft>
                        <a:buNone/>
                      </a:pPr>
                      <a:r>
                        <a:rPr lang="en-US" sz="1200">
                          <a:latin typeface="Times"/>
                          <a:ea typeface="Times"/>
                          <a:cs typeface="Times"/>
                          <a:sym typeface="Times"/>
                        </a:rPr>
                        <a:t>1</a:t>
                      </a:r>
                      <a:endParaRPr sz="1200">
                        <a:latin typeface="Times"/>
                        <a:ea typeface="Times"/>
                        <a:cs typeface="Times"/>
                        <a:sym typeface="Times"/>
                      </a:endParaRPr>
                    </a:p>
                  </a:txBody>
                  <a:tcPr marT="91425" marB="91425" marR="91425" marL="91425"/>
                </a:tc>
                <a:tc>
                  <a:txBody>
                    <a:bodyPr/>
                    <a:lstStyle/>
                    <a:p>
                      <a:pPr indent="0" lvl="0" marL="0" rtl="0" algn="ctr">
                        <a:lnSpc>
                          <a:spcPct val="150000"/>
                        </a:lnSpc>
                        <a:spcBef>
                          <a:spcPts val="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Water Quality Monitoring System for Early Detection of Diseases [1]</a:t>
                      </a:r>
                      <a:endParaRPr sz="1200">
                        <a:latin typeface="Times"/>
                        <a:ea typeface="Times"/>
                        <a:cs typeface="Times"/>
                        <a:sym typeface="Times"/>
                      </a:endParaRPr>
                    </a:p>
                  </a:txBody>
                  <a:tcPr marT="91425" marB="91425" marR="91425" marL="91425"/>
                </a:tc>
                <a:tc>
                  <a:txBody>
                    <a:bodyPr/>
                    <a:lstStyle/>
                    <a:p>
                      <a:pPr indent="0" lvl="0" marL="0" rtl="0" algn="ctr">
                        <a:lnSpc>
                          <a:spcPct val="150000"/>
                        </a:lnSpc>
                        <a:spcBef>
                          <a:spcPts val="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A. Kumar, S. Verma</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a:ea typeface="Times"/>
                        <a:cs typeface="Times"/>
                        <a:sym typeface="Times"/>
                      </a:endParaRPr>
                    </a:p>
                  </a:txBody>
                  <a:tcPr marT="91425" marB="91425" marR="91425" marL="91425"/>
                </a:tc>
                <a:tc>
                  <a:txBody>
                    <a:bodyPr/>
                    <a:lstStyle/>
                    <a:p>
                      <a:pPr indent="0" lvl="0" marL="0" rtl="0" algn="ctr">
                        <a:lnSpc>
                          <a:spcPct val="150000"/>
                        </a:lnSpc>
                        <a:spcBef>
                          <a:spcPts val="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Sensor-based data collection, Threshold analysis</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a:ea typeface="Times"/>
                        <a:cs typeface="Times"/>
                        <a:sym typeface="Times"/>
                      </a:endParaRPr>
                    </a:p>
                  </a:txBody>
                  <a:tcPr marT="91425" marB="91425" marR="91425" marL="91425"/>
                </a:tc>
                <a:tc>
                  <a:txBody>
                    <a:bodyPr/>
                    <a:lstStyle/>
                    <a:p>
                      <a:pPr indent="0" lvl="0" marL="0" rtl="0" algn="ctr">
                        <a:lnSpc>
                          <a:spcPct val="150000"/>
                        </a:lnSpc>
                        <a:spcBef>
                          <a:spcPts val="0"/>
                        </a:spcBef>
                        <a:spcAft>
                          <a:spcPts val="0"/>
                        </a:spcAft>
                        <a:buNone/>
                      </a:pPr>
                      <a:r>
                        <a:rPr lang="en-US" sz="1200">
                          <a:solidFill>
                            <a:schemeClr val="dk1"/>
                          </a:solidFill>
                          <a:latin typeface="Times New Roman"/>
                          <a:ea typeface="Times New Roman"/>
                          <a:cs typeface="Times New Roman"/>
                          <a:sym typeface="Times New Roman"/>
                        </a:rPr>
                        <a:t>Enables real-time detection of contaminated water; simple and effective for field use</a:t>
                      </a:r>
                      <a:endParaRPr sz="1200">
                        <a:latin typeface="Times"/>
                        <a:ea typeface="Times"/>
                        <a:cs typeface="Times"/>
                        <a:sym typeface="Times"/>
                      </a:endParaRPr>
                    </a:p>
                  </a:txBody>
                  <a:tcPr marT="91425" marB="91425" marR="91425" marL="91425">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Requires multiple sensors and hardware maintenance</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a:ea typeface="Times"/>
                        <a:cs typeface="Times"/>
                        <a:sym typeface="Times"/>
                      </a:endParaRPr>
                    </a:p>
                  </a:txBody>
                  <a:tcPr marT="91425" marB="91425" marR="91425" marL="91425">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March 2021</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a:ea typeface="Times"/>
                        <a:cs typeface="Times"/>
                        <a:sym typeface="Times"/>
                      </a:endParaRPr>
                    </a:p>
                  </a:txBody>
                  <a:tcPr marT="91425" marB="91425" marR="91425" marL="91425">
                    <a:lnB cap="flat" cmpd="sng" w="6350">
                      <a:solidFill>
                        <a:srgbClr val="000000"/>
                      </a:solidFill>
                      <a:prstDash val="solid"/>
                      <a:round/>
                      <a:headEnd len="sm" w="sm" type="none"/>
                      <a:tailEnd len="sm" w="sm" type="none"/>
                    </a:lnB>
                  </a:tcPr>
                </a:tc>
              </a:tr>
              <a:tr h="1203975">
                <a:tc>
                  <a:txBody>
                    <a:bodyPr/>
                    <a:lstStyle/>
                    <a:p>
                      <a:pPr indent="0" lvl="0" marL="0" rtl="0" algn="ctr">
                        <a:spcBef>
                          <a:spcPts val="0"/>
                        </a:spcBef>
                        <a:spcAft>
                          <a:spcPts val="0"/>
                        </a:spcAft>
                        <a:buNone/>
                      </a:pPr>
                      <a:r>
                        <a:rPr lang="en-US" sz="1200">
                          <a:latin typeface="Times"/>
                          <a:ea typeface="Times"/>
                          <a:cs typeface="Times"/>
                          <a:sym typeface="Times"/>
                        </a:rPr>
                        <a:t>2</a:t>
                      </a:r>
                      <a:endParaRPr sz="1200">
                        <a:latin typeface="Times"/>
                        <a:ea typeface="Times"/>
                        <a:cs typeface="Times"/>
                        <a:sym typeface="Times"/>
                      </a:endParaRPr>
                    </a:p>
                  </a:txBody>
                  <a:tcPr marT="91425" marB="91425" marR="91425" marL="91425"/>
                </a:tc>
                <a:tc>
                  <a:txBody>
                    <a:bodyPr/>
                    <a:lstStyle/>
                    <a:p>
                      <a:pPr indent="0" lvl="0" marL="0" rtl="0" algn="ctr">
                        <a:lnSpc>
                          <a:spcPct val="150000"/>
                        </a:lnSpc>
                        <a:spcBef>
                          <a:spcPts val="0"/>
                        </a:spcBef>
                        <a:spcAft>
                          <a:spcPts val="0"/>
                        </a:spcAft>
                        <a:buNone/>
                      </a:pPr>
                      <a:r>
                        <a:rPr lang="en-US" sz="1200">
                          <a:solidFill>
                            <a:schemeClr val="dk1"/>
                          </a:solidFill>
                          <a:latin typeface="Times New Roman"/>
                          <a:ea typeface="Times New Roman"/>
                          <a:cs typeface="Times New Roman"/>
                          <a:sym typeface="Times New Roman"/>
                        </a:rPr>
                        <a:t>Data-Driven Approach for Predicting Outbreaks of Water-Borne Diseases [2]</a:t>
                      </a:r>
                      <a:endParaRPr sz="1200">
                        <a:latin typeface="Times"/>
                        <a:ea typeface="Times"/>
                        <a:cs typeface="Times"/>
                        <a:sym typeface="Times"/>
                      </a:endParaRPr>
                    </a:p>
                  </a:txBody>
                  <a:tcPr marT="91425" marB="91425" marR="91425" marL="91425">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R. Gupta, M. Patel</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a:ea typeface="Times"/>
                        <a:cs typeface="Times"/>
                        <a:sym typeface="Times"/>
                      </a:endParaRPr>
                    </a:p>
                  </a:txBody>
                  <a:tcPr marT="91425" marB="91425" marR="91425" marL="91425">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Machine Learning (Random Forest, Decision Tree)</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a:ea typeface="Times"/>
                        <a:cs typeface="Times"/>
                        <a:sym typeface="Times"/>
                      </a:endParaRPr>
                    </a:p>
                  </a:txBody>
                  <a:tcPr marT="91425" marB="91425" marR="91425" marL="91425">
                    <a:lnR cap="flat" cmpd="sng" w="6350">
                      <a:solidFill>
                        <a:srgbClr val="000000"/>
                      </a:solidFill>
                      <a:prstDash val="solid"/>
                      <a:round/>
                      <a:headEnd len="sm" w="sm" type="none"/>
                      <a:tailEnd len="sm" w="sm" type="none"/>
                    </a:lnR>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Provides accurate outbreak prediction using historical and health data</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Needs large and clean datasets; model interpretability issues</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July 2022</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03975">
                <a:tc>
                  <a:txBody>
                    <a:bodyPr/>
                    <a:lstStyle/>
                    <a:p>
                      <a:pPr indent="0" lvl="0" marL="0" rtl="0" algn="ctr">
                        <a:spcBef>
                          <a:spcPts val="0"/>
                        </a:spcBef>
                        <a:spcAft>
                          <a:spcPts val="0"/>
                        </a:spcAft>
                        <a:buNone/>
                      </a:pPr>
                      <a:r>
                        <a:rPr lang="en-US" sz="1200">
                          <a:latin typeface="Times"/>
                          <a:ea typeface="Times"/>
                          <a:cs typeface="Times"/>
                          <a:sym typeface="Times"/>
                        </a:rPr>
                        <a:t>3</a:t>
                      </a:r>
                      <a:endParaRPr sz="1200">
                        <a:latin typeface="Times"/>
                        <a:ea typeface="Times"/>
                        <a:cs typeface="Times"/>
                        <a:sym typeface="Times"/>
                      </a:endParaRPr>
                    </a:p>
                  </a:txBody>
                  <a:tcPr marT="91425" marB="91425" marR="91425" marL="91425">
                    <a:lnR cap="flat" cmpd="sng" w="6350">
                      <a:solidFill>
                        <a:srgbClr val="000000"/>
                      </a:solidFill>
                      <a:prstDash val="solid"/>
                      <a:round/>
                      <a:headEnd len="sm" w="sm" type="none"/>
                      <a:tailEnd len="sm" w="sm" type="none"/>
                    </a:lnR>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Community Health Monitoring System Using Cloud and Mobile Applications [3]</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P. Sharma, K. Singh</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Cloud database, Mobile app integration</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Facilitates data sharing and remote health monitoring</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Dependent on internet availability and data privacy concerns</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November 2020</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2"/>
          <p:cNvSpPr txBox="1"/>
          <p:nvPr>
            <p:ph type="title"/>
          </p:nvPr>
        </p:nvSpPr>
        <p:spPr>
          <a:xfrm>
            <a:off x="1349700" y="326641"/>
            <a:ext cx="10254615" cy="492443"/>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US">
                <a:latin typeface="Cambria"/>
                <a:ea typeface="Cambria"/>
                <a:cs typeface="Cambria"/>
                <a:sym typeface="Cambria"/>
              </a:rPr>
              <a:t>LITERATURE SURVEY</a:t>
            </a:r>
            <a:endParaRPr b="1">
              <a:latin typeface="Cambria"/>
              <a:ea typeface="Cambria"/>
              <a:cs typeface="Cambria"/>
              <a:sym typeface="Cambria"/>
            </a:endParaRPr>
          </a:p>
        </p:txBody>
      </p:sp>
      <p:sp>
        <p:nvSpPr>
          <p:cNvPr id="98" name="Google Shape;98;p12"/>
          <p:cNvSpPr txBox="1"/>
          <p:nvPr>
            <p:ph idx="10" type="dt"/>
          </p:nvPr>
        </p:nvSpPr>
        <p:spPr>
          <a:xfrm>
            <a:off x="179689" y="6441110"/>
            <a:ext cx="1124585" cy="436017"/>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25-04-2025</a:t>
            </a:r>
            <a:endParaRPr/>
          </a:p>
          <a:p>
            <a:pPr indent="0" lvl="0" marL="12700" rtl="0" algn="l">
              <a:lnSpc>
                <a:spcPct val="104000"/>
              </a:lnSpc>
              <a:spcBef>
                <a:spcPts val="0"/>
              </a:spcBef>
              <a:spcAft>
                <a:spcPts val="0"/>
              </a:spcAft>
              <a:buNone/>
            </a:pPr>
            <a:r>
              <a:t/>
            </a:r>
            <a:endParaRPr/>
          </a:p>
        </p:txBody>
      </p:sp>
      <p:sp>
        <p:nvSpPr>
          <p:cNvPr id="99" name="Google Shape;99;p12"/>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Department of Information Science &amp; Engineering</a:t>
            </a:r>
            <a:endParaRPr/>
          </a:p>
        </p:txBody>
      </p:sp>
      <p:sp>
        <p:nvSpPr>
          <p:cNvPr id="100" name="Google Shape;100;p12"/>
          <p:cNvSpPr txBox="1"/>
          <p:nvPr>
            <p:ph idx="12" type="sldNum"/>
          </p:nvPr>
        </p:nvSpPr>
        <p:spPr>
          <a:xfrm>
            <a:off x="11841188" y="6441110"/>
            <a:ext cx="209550" cy="229234"/>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graphicFrame>
        <p:nvGraphicFramePr>
          <p:cNvPr id="101" name="Google Shape;101;p12"/>
          <p:cNvGraphicFramePr/>
          <p:nvPr/>
        </p:nvGraphicFramePr>
        <p:xfrm>
          <a:off x="1184613" y="1221550"/>
          <a:ext cx="3000000" cy="3000000"/>
        </p:xfrm>
        <a:graphic>
          <a:graphicData uri="http://schemas.openxmlformats.org/drawingml/2006/table">
            <a:tbl>
              <a:tblPr>
                <a:noFill/>
                <a:tableStyleId>{C7D9A46C-16F7-4A65-BBF8-6DA9B211B52B}</a:tableStyleId>
              </a:tblPr>
              <a:tblGrid>
                <a:gridCol w="991775"/>
                <a:gridCol w="2067975"/>
                <a:gridCol w="1361050"/>
                <a:gridCol w="1540450"/>
                <a:gridCol w="1688125"/>
                <a:gridCol w="1529875"/>
                <a:gridCol w="1529875"/>
              </a:tblGrid>
              <a:tr h="1264550">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4</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A Framework for Early Warning of Infectious Diseases Using Environmental and Health Data [4]</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L. Chen, J. Park</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Rule-based inference, Correlation analysis</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Detects relation between environmental changes and disease trends</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Slower response time when data updates are infrequent</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September 2019</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16025">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Smart Rural Health Surveillance System Using Data Analytics [5]</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N. Das, T. Roy</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Data aggregation, Visualization, Statistical analysis</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Cost-effective; helps identify rural health trends</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Lacks automation and AI-based predictions</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February 2023</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30300">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6</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Disease Outbreak Prediction and Alert System Using Machine Learning [6]</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S. Iqbal, H. Ahmed</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Naive Bayes, Logistic Regression</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Predicts outbreak probabilities based on medical and environmental data</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Accuracy affected by imbalanced data</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May 2021</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16025">
                <a:tc>
                  <a:txBody>
                    <a:bodyPr/>
                    <a:lstStyle/>
                    <a:p>
                      <a:pPr indent="0" lvl="0" marL="0" rtl="0" algn="ctr">
                        <a:spcBef>
                          <a:spcPts val="0"/>
                        </a:spcBef>
                        <a:spcAft>
                          <a:spcPts val="0"/>
                        </a:spcAft>
                        <a:buNone/>
                      </a:pPr>
                      <a:r>
                        <a:rPr lang="en-US" sz="1200">
                          <a:latin typeface="Times"/>
                          <a:ea typeface="Times"/>
                          <a:cs typeface="Times"/>
                          <a:sym typeface="Times"/>
                        </a:rPr>
                        <a:t>7</a:t>
                      </a:r>
                      <a:endParaRPr sz="1200">
                        <a:latin typeface="Times"/>
                        <a:ea typeface="Times"/>
                        <a:cs typeface="Times"/>
                        <a:sym typeface="Times"/>
                      </a:endParaRPr>
                    </a:p>
                  </a:txBody>
                  <a:tcPr marT="91425" marB="91425" marR="91425" marL="91425">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Intelligent Public Health Monitoring and Alert System for Rural Communities [7]</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V. Mehta, D. Reddy</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Rule-based and Trend Detection Algorithms</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Improves early warning through pattern recognition and alerts</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Limited scalability; manual data collection required</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50000"/>
                        </a:lnSpc>
                        <a:spcBef>
                          <a:spcPts val="0"/>
                        </a:spcBef>
                        <a:spcAft>
                          <a:spcPts val="0"/>
                        </a:spcAft>
                        <a:buNone/>
                      </a:pPr>
                      <a:r>
                        <a:rPr lang="en-US" sz="1200">
                          <a:latin typeface="Times New Roman"/>
                          <a:ea typeface="Times New Roman"/>
                          <a:cs typeface="Times New Roman"/>
                          <a:sym typeface="Times New Roman"/>
                        </a:rPr>
                        <a:t>August 2022</a:t>
                      </a:r>
                      <a:endParaRPr sz="12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3"/>
          <p:cNvSpPr txBox="1"/>
          <p:nvPr>
            <p:ph type="title"/>
          </p:nvPr>
        </p:nvSpPr>
        <p:spPr>
          <a:xfrm>
            <a:off x="1349700" y="326641"/>
            <a:ext cx="10254615" cy="492443"/>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US">
                <a:latin typeface="Cambria"/>
                <a:ea typeface="Cambria"/>
                <a:cs typeface="Cambria"/>
                <a:sym typeface="Cambria"/>
              </a:rPr>
              <a:t>PROBLEM STATEMENT</a:t>
            </a:r>
            <a:endParaRPr b="1">
              <a:latin typeface="Cambria"/>
              <a:ea typeface="Cambria"/>
              <a:cs typeface="Cambria"/>
              <a:sym typeface="Cambria"/>
            </a:endParaRPr>
          </a:p>
        </p:txBody>
      </p:sp>
      <p:sp>
        <p:nvSpPr>
          <p:cNvPr id="107" name="Google Shape;107;p13"/>
          <p:cNvSpPr txBox="1"/>
          <p:nvPr>
            <p:ph idx="1" type="body"/>
          </p:nvPr>
        </p:nvSpPr>
        <p:spPr>
          <a:xfrm>
            <a:off x="1183446" y="1828800"/>
            <a:ext cx="10461314" cy="2805063"/>
          </a:xfrm>
          <a:prstGeom prst="rect">
            <a:avLst/>
          </a:prstGeom>
          <a:noFill/>
          <a:ln>
            <a:noFill/>
          </a:ln>
        </p:spPr>
        <p:txBody>
          <a:bodyPr anchorCtr="0" anchor="t" bIns="0" lIns="0" spcFirstLastPara="1" rIns="0" wrap="square" tIns="0">
            <a:spAutoFit/>
          </a:bodyPr>
          <a:lstStyle/>
          <a:p>
            <a:pPr indent="0" lvl="0" marL="0" rtl="0" algn="just">
              <a:lnSpc>
                <a:spcPct val="150000"/>
              </a:lnSpc>
              <a:spcBef>
                <a:spcPts val="0"/>
              </a:spcBef>
              <a:spcAft>
                <a:spcPts val="0"/>
              </a:spcAft>
              <a:buNone/>
            </a:pPr>
            <a:r>
              <a:rPr lang="en-US" sz="2000">
                <a:latin typeface="Times New Roman"/>
                <a:ea typeface="Times New Roman"/>
                <a:cs typeface="Times New Roman"/>
                <a:sym typeface="Times New Roman"/>
              </a:rPr>
              <a:t>Rural areas often face challenges in detecting and controlling water-borne diseases due to poor water quality monitoring and limited healthcare infrastructure. Existing manual methods are slow and inefficient, leading to delayed responses to outbreaks. There is a need for a web-based intelligent system that uses AI and data analytics to predict, detect, and prevent such outbreaks through real-time health and water-quality data integration.</a:t>
            </a:r>
            <a:endParaRPr/>
          </a:p>
          <a:p>
            <a:pPr indent="0" lvl="0" marL="0" rtl="0" algn="just">
              <a:lnSpc>
                <a:spcPct val="150000"/>
              </a:lnSpc>
              <a:spcBef>
                <a:spcPts val="0"/>
              </a:spcBef>
              <a:spcAft>
                <a:spcPts val="0"/>
              </a:spcAft>
              <a:buNone/>
            </a:pPr>
            <a:r>
              <a:t/>
            </a:r>
            <a:endParaRPr sz="2400">
              <a:latin typeface="Times New Roman"/>
              <a:ea typeface="Times New Roman"/>
              <a:cs typeface="Times New Roman"/>
              <a:sym typeface="Times New Roman"/>
            </a:endParaRPr>
          </a:p>
        </p:txBody>
      </p:sp>
      <p:sp>
        <p:nvSpPr>
          <p:cNvPr id="108" name="Google Shape;108;p13"/>
          <p:cNvSpPr txBox="1"/>
          <p:nvPr>
            <p:ph idx="10" type="dt"/>
          </p:nvPr>
        </p:nvSpPr>
        <p:spPr>
          <a:xfrm>
            <a:off x="179689" y="6441110"/>
            <a:ext cx="1124585" cy="436017"/>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25-04-2025</a:t>
            </a:r>
            <a:endParaRPr/>
          </a:p>
          <a:p>
            <a:pPr indent="0" lvl="0" marL="12700" rtl="0" algn="l">
              <a:lnSpc>
                <a:spcPct val="104000"/>
              </a:lnSpc>
              <a:spcBef>
                <a:spcPts val="0"/>
              </a:spcBef>
              <a:spcAft>
                <a:spcPts val="0"/>
              </a:spcAft>
              <a:buNone/>
            </a:pPr>
            <a:r>
              <a:t/>
            </a:r>
            <a:endParaRPr/>
          </a:p>
        </p:txBody>
      </p:sp>
      <p:sp>
        <p:nvSpPr>
          <p:cNvPr id="109" name="Google Shape;109;p13"/>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Department of Information Science &amp; Engineering</a:t>
            </a:r>
            <a:endParaRPr/>
          </a:p>
        </p:txBody>
      </p:sp>
      <p:sp>
        <p:nvSpPr>
          <p:cNvPr id="110" name="Google Shape;110;p13"/>
          <p:cNvSpPr txBox="1"/>
          <p:nvPr>
            <p:ph idx="12" type="sldNum"/>
          </p:nvPr>
        </p:nvSpPr>
        <p:spPr>
          <a:xfrm>
            <a:off x="11841188" y="6441110"/>
            <a:ext cx="209550" cy="229234"/>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4"/>
          <p:cNvSpPr txBox="1"/>
          <p:nvPr>
            <p:ph type="title"/>
          </p:nvPr>
        </p:nvSpPr>
        <p:spPr>
          <a:xfrm>
            <a:off x="1349700" y="326641"/>
            <a:ext cx="10254615" cy="492443"/>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US">
                <a:latin typeface="Cambria"/>
                <a:ea typeface="Cambria"/>
                <a:cs typeface="Cambria"/>
                <a:sym typeface="Cambria"/>
              </a:rPr>
              <a:t>HARDWARE AND SOFTWARE REQUIREMENTS</a:t>
            </a:r>
            <a:endParaRPr b="1">
              <a:latin typeface="Cambria"/>
              <a:ea typeface="Cambria"/>
              <a:cs typeface="Cambria"/>
              <a:sym typeface="Cambria"/>
            </a:endParaRPr>
          </a:p>
        </p:txBody>
      </p:sp>
      <p:sp>
        <p:nvSpPr>
          <p:cNvPr id="116" name="Google Shape;116;p14"/>
          <p:cNvSpPr txBox="1"/>
          <p:nvPr>
            <p:ph idx="1" type="body"/>
          </p:nvPr>
        </p:nvSpPr>
        <p:spPr>
          <a:xfrm>
            <a:off x="896238" y="1144431"/>
            <a:ext cx="11049725" cy="738664"/>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400">
                <a:latin typeface="Times New Roman"/>
                <a:ea typeface="Times New Roman"/>
                <a:cs typeface="Times New Roman"/>
                <a:sym typeface="Times New Roman"/>
              </a:rPr>
              <a:t>Hardware Requirements</a:t>
            </a:r>
            <a:endParaRPr/>
          </a:p>
          <a:p>
            <a:pPr indent="0" lvl="0" marL="0" rtl="0" algn="l">
              <a:spcBef>
                <a:spcPts val="0"/>
              </a:spcBef>
              <a:spcAft>
                <a:spcPts val="0"/>
              </a:spcAft>
              <a:buNone/>
            </a:pPr>
            <a:r>
              <a:t/>
            </a:r>
            <a:endParaRPr sz="2400">
              <a:latin typeface="Times New Roman"/>
              <a:ea typeface="Times New Roman"/>
              <a:cs typeface="Times New Roman"/>
              <a:sym typeface="Times New Roman"/>
            </a:endParaRPr>
          </a:p>
        </p:txBody>
      </p:sp>
      <p:sp>
        <p:nvSpPr>
          <p:cNvPr id="117" name="Google Shape;117;p14"/>
          <p:cNvSpPr txBox="1"/>
          <p:nvPr>
            <p:ph idx="10" type="dt"/>
          </p:nvPr>
        </p:nvSpPr>
        <p:spPr>
          <a:xfrm>
            <a:off x="179689" y="6441110"/>
            <a:ext cx="1124585" cy="436017"/>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25-04-2025</a:t>
            </a:r>
            <a:endParaRPr/>
          </a:p>
          <a:p>
            <a:pPr indent="0" lvl="0" marL="12700" rtl="0" algn="l">
              <a:lnSpc>
                <a:spcPct val="104000"/>
              </a:lnSpc>
              <a:spcBef>
                <a:spcPts val="0"/>
              </a:spcBef>
              <a:spcAft>
                <a:spcPts val="0"/>
              </a:spcAft>
              <a:buNone/>
            </a:pPr>
            <a:r>
              <a:t/>
            </a:r>
            <a:endParaRPr/>
          </a:p>
        </p:txBody>
      </p:sp>
      <p:sp>
        <p:nvSpPr>
          <p:cNvPr id="118" name="Google Shape;118;p14"/>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Department of Information Science &amp; Engineering</a:t>
            </a:r>
            <a:endParaRPr/>
          </a:p>
        </p:txBody>
      </p:sp>
      <p:sp>
        <p:nvSpPr>
          <p:cNvPr id="119" name="Google Shape;119;p14"/>
          <p:cNvSpPr txBox="1"/>
          <p:nvPr>
            <p:ph idx="12" type="sldNum"/>
          </p:nvPr>
        </p:nvSpPr>
        <p:spPr>
          <a:xfrm>
            <a:off x="11841188" y="6441110"/>
            <a:ext cx="209550" cy="229234"/>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sp>
        <p:nvSpPr>
          <p:cNvPr id="120" name="Google Shape;120;p14"/>
          <p:cNvSpPr txBox="1"/>
          <p:nvPr/>
        </p:nvSpPr>
        <p:spPr>
          <a:xfrm>
            <a:off x="838200" y="1676400"/>
            <a:ext cx="10820400" cy="4199611"/>
          </a:xfrm>
          <a:prstGeom prst="rect">
            <a:avLst/>
          </a:prstGeom>
          <a:noFill/>
          <a:ln>
            <a:noFill/>
          </a:ln>
        </p:spPr>
        <p:txBody>
          <a:bodyPr anchorCtr="0" anchor="t" bIns="45700" lIns="91425" spcFirstLastPara="1" rIns="91425" wrap="square" tIns="45700">
            <a:spAutoFit/>
          </a:bodyPr>
          <a:lstStyle/>
          <a:p>
            <a:pPr indent="-285750" lvl="0" marL="285750" rtl="0" algn="just">
              <a:lnSpc>
                <a:spcPct val="150000"/>
              </a:lnSpc>
              <a:spcBef>
                <a:spcPts val="0"/>
              </a:spcBef>
              <a:spcAft>
                <a:spcPts val="0"/>
              </a:spcAft>
              <a:buSzPts val="2000"/>
              <a:buFont typeface="Arial"/>
              <a:buChar char="•"/>
            </a:pPr>
            <a:r>
              <a:rPr lang="en-US" sz="2000">
                <a:latin typeface="Times New Roman"/>
                <a:ea typeface="Times New Roman"/>
                <a:cs typeface="Times New Roman"/>
                <a:sym typeface="Times New Roman"/>
              </a:rPr>
              <a:t>Development Machine: Laptop or Desktop PC (Running IDEs, backend servers, and data analysis tasks.)</a:t>
            </a:r>
            <a:endParaRPr/>
          </a:p>
          <a:p>
            <a:pPr indent="-285750" lvl="0" marL="285750" rtl="0" algn="just">
              <a:lnSpc>
                <a:spcPct val="150000"/>
              </a:lnSpc>
              <a:spcBef>
                <a:spcPts val="0"/>
              </a:spcBef>
              <a:spcAft>
                <a:spcPts val="0"/>
              </a:spcAft>
              <a:buSzPts val="2000"/>
              <a:buFont typeface="Arial"/>
              <a:buChar char="•"/>
            </a:pPr>
            <a:r>
              <a:rPr lang="en-US" sz="2000">
                <a:latin typeface="Times New Roman"/>
                <a:ea typeface="Times New Roman"/>
                <a:cs typeface="Times New Roman"/>
                <a:sym typeface="Times New Roman"/>
              </a:rPr>
              <a:t>Processor (CPU): Intel Core i5/Ryzen 5 (or higher) (To handle data processing and run Machine Learning model training/testing efficiently.)</a:t>
            </a:r>
            <a:endParaRPr/>
          </a:p>
          <a:p>
            <a:pPr indent="-285750" lvl="0" marL="285750" rtl="0" algn="just">
              <a:lnSpc>
                <a:spcPct val="150000"/>
              </a:lnSpc>
              <a:spcBef>
                <a:spcPts val="0"/>
              </a:spcBef>
              <a:spcAft>
                <a:spcPts val="0"/>
              </a:spcAft>
              <a:buSzPts val="2000"/>
              <a:buFont typeface="Arial"/>
              <a:buChar char="•"/>
            </a:pPr>
            <a:r>
              <a:rPr lang="en-US" sz="2000">
                <a:latin typeface="Times New Roman"/>
                <a:ea typeface="Times New Roman"/>
                <a:cs typeface="Times New Roman"/>
                <a:sym typeface="Times New Roman"/>
              </a:rPr>
              <a:t>Memory (RAM): 8 GB or 16 GB (Essential for loading and processing large datasets and running multiple software tools concurrently.)</a:t>
            </a:r>
            <a:endParaRPr/>
          </a:p>
          <a:p>
            <a:pPr indent="-285750" lvl="0" marL="285750" rtl="0" algn="just">
              <a:lnSpc>
                <a:spcPct val="150000"/>
              </a:lnSpc>
              <a:spcBef>
                <a:spcPts val="0"/>
              </a:spcBef>
              <a:spcAft>
                <a:spcPts val="0"/>
              </a:spcAft>
              <a:buSzPts val="2000"/>
              <a:buFont typeface="Arial"/>
              <a:buChar char="•"/>
            </a:pPr>
            <a:r>
              <a:rPr lang="en-US" sz="2000">
                <a:latin typeface="Times New Roman"/>
                <a:ea typeface="Times New Roman"/>
                <a:cs typeface="Times New Roman"/>
                <a:sym typeface="Times New Roman"/>
              </a:rPr>
              <a:t>Storage (HDD/SSD): 256 GB SSD (Fast access for reading datasets and writing model outputs.)</a:t>
            </a:r>
            <a:endParaRPr/>
          </a:p>
          <a:p>
            <a:pPr indent="-285750" lvl="0" marL="285750" rtl="0" algn="just">
              <a:lnSpc>
                <a:spcPct val="150000"/>
              </a:lnSpc>
              <a:spcBef>
                <a:spcPts val="0"/>
              </a:spcBef>
              <a:spcAft>
                <a:spcPts val="0"/>
              </a:spcAft>
              <a:buSzPts val="2000"/>
              <a:buFont typeface="Arial"/>
              <a:buChar char="•"/>
            </a:pPr>
            <a:r>
              <a:rPr lang="en-US" sz="2000">
                <a:latin typeface="Times New Roman"/>
                <a:ea typeface="Times New Roman"/>
                <a:cs typeface="Times New Roman"/>
                <a:sym typeface="Times New Roman"/>
              </a:rPr>
              <a:t>Internet Access: Stable Broadband Connection (Crucial for accessing cloud platforms, downloading libraries, and deploying the system.)</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5"/>
          <p:cNvSpPr txBox="1"/>
          <p:nvPr>
            <p:ph idx="10" type="dt"/>
          </p:nvPr>
        </p:nvSpPr>
        <p:spPr>
          <a:xfrm>
            <a:off x="179689" y="6441110"/>
            <a:ext cx="1124585" cy="436017"/>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25-04-2025</a:t>
            </a:r>
            <a:endParaRPr/>
          </a:p>
          <a:p>
            <a:pPr indent="0" lvl="0" marL="12700" rtl="0" algn="l">
              <a:lnSpc>
                <a:spcPct val="104000"/>
              </a:lnSpc>
              <a:spcBef>
                <a:spcPts val="0"/>
              </a:spcBef>
              <a:spcAft>
                <a:spcPts val="0"/>
              </a:spcAft>
              <a:buNone/>
            </a:pPr>
            <a:r>
              <a:t/>
            </a:r>
            <a:endParaRPr/>
          </a:p>
        </p:txBody>
      </p:sp>
      <p:sp>
        <p:nvSpPr>
          <p:cNvPr id="126" name="Google Shape;126;p15"/>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Department of Information Science &amp; Engineering</a:t>
            </a:r>
            <a:endParaRPr/>
          </a:p>
        </p:txBody>
      </p:sp>
      <p:sp>
        <p:nvSpPr>
          <p:cNvPr id="127" name="Google Shape;127;p15"/>
          <p:cNvSpPr txBox="1"/>
          <p:nvPr>
            <p:ph idx="12" type="sldNum"/>
          </p:nvPr>
        </p:nvSpPr>
        <p:spPr>
          <a:xfrm>
            <a:off x="11841188" y="6441110"/>
            <a:ext cx="209550" cy="229234"/>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sp>
        <p:nvSpPr>
          <p:cNvPr id="128" name="Google Shape;128;p15"/>
          <p:cNvSpPr txBox="1"/>
          <p:nvPr>
            <p:ph type="title"/>
          </p:nvPr>
        </p:nvSpPr>
        <p:spPr>
          <a:xfrm>
            <a:off x="1349375" y="327025"/>
            <a:ext cx="10255250" cy="533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US">
                <a:latin typeface="Cambria"/>
                <a:ea typeface="Cambria"/>
                <a:cs typeface="Cambria"/>
                <a:sym typeface="Cambria"/>
              </a:rPr>
              <a:t>HARDWARE AND SOFTWARE REQUIREMENTS</a:t>
            </a:r>
            <a:endParaRPr b="1">
              <a:latin typeface="Cambria"/>
              <a:ea typeface="Cambria"/>
              <a:cs typeface="Cambria"/>
              <a:sym typeface="Cambria"/>
            </a:endParaRPr>
          </a:p>
        </p:txBody>
      </p:sp>
      <p:sp>
        <p:nvSpPr>
          <p:cNvPr id="129" name="Google Shape;129;p15"/>
          <p:cNvSpPr txBox="1"/>
          <p:nvPr/>
        </p:nvSpPr>
        <p:spPr>
          <a:xfrm>
            <a:off x="1042447" y="1676106"/>
            <a:ext cx="10820400" cy="4556100"/>
          </a:xfrm>
          <a:prstGeom prst="rect">
            <a:avLst/>
          </a:prstGeom>
          <a:noFill/>
          <a:ln>
            <a:noFill/>
          </a:ln>
        </p:spPr>
        <p:txBody>
          <a:bodyPr anchorCtr="0" anchor="t" bIns="45700" lIns="91425" spcFirstLastPara="1" rIns="91425" wrap="square" tIns="45700">
            <a:spAutoFit/>
          </a:bodyPr>
          <a:lstStyle/>
          <a:p>
            <a:pPr indent="-342900" lvl="0" marL="342900" rtl="0" algn="just">
              <a:lnSpc>
                <a:spcPct val="150000"/>
              </a:lnSpc>
              <a:spcBef>
                <a:spcPts val="0"/>
              </a:spcBef>
              <a:spcAft>
                <a:spcPts val="0"/>
              </a:spcAft>
              <a:buSzPts val="2000"/>
              <a:buFont typeface="Arial"/>
              <a:buChar char="•"/>
            </a:pPr>
            <a:r>
              <a:rPr lang="en-US" sz="2000">
                <a:latin typeface="Times New Roman"/>
                <a:ea typeface="Times New Roman"/>
                <a:cs typeface="Times New Roman"/>
                <a:sym typeface="Times New Roman"/>
              </a:rPr>
              <a:t>Core Development : Python 3.x (Primary language for all analysis and system logic.)</a:t>
            </a:r>
            <a:endParaRPr/>
          </a:p>
          <a:p>
            <a:pPr indent="-342900" lvl="0" marL="342900" rtl="0" algn="just">
              <a:lnSpc>
                <a:spcPct val="150000"/>
              </a:lnSpc>
              <a:spcBef>
                <a:spcPts val="0"/>
              </a:spcBef>
              <a:spcAft>
                <a:spcPts val="0"/>
              </a:spcAft>
              <a:buSzPts val="2000"/>
              <a:buFont typeface="Arial"/>
              <a:buChar char="•"/>
            </a:pPr>
            <a:r>
              <a:rPr lang="en-US" sz="2000">
                <a:latin typeface="Times New Roman"/>
                <a:ea typeface="Times New Roman"/>
                <a:cs typeface="Times New Roman"/>
                <a:sym typeface="Times New Roman"/>
              </a:rPr>
              <a:t>Data Science / ML : Pandas, Scikit-learn (Data handling, cleaning, and building the early warning prediction model.)</a:t>
            </a:r>
            <a:endParaRPr/>
          </a:p>
          <a:p>
            <a:pPr indent="-342900" lvl="0" marL="342900" rtl="0" algn="just">
              <a:lnSpc>
                <a:spcPct val="150000"/>
              </a:lnSpc>
              <a:spcBef>
                <a:spcPts val="0"/>
              </a:spcBef>
              <a:spcAft>
                <a:spcPts val="0"/>
              </a:spcAft>
              <a:buSzPts val="2000"/>
              <a:buFont typeface="Arial"/>
              <a:buChar char="•"/>
            </a:pPr>
            <a:r>
              <a:rPr lang="en-US" sz="2000">
                <a:latin typeface="Times New Roman"/>
                <a:ea typeface="Times New Roman"/>
                <a:cs typeface="Times New Roman"/>
                <a:sym typeface="Times New Roman"/>
              </a:rPr>
              <a:t>Backend / API : Flask	(Creating the application logic to run the model and manage alerts.)</a:t>
            </a:r>
            <a:endParaRPr/>
          </a:p>
          <a:p>
            <a:pPr indent="-342900" lvl="0" marL="342900" rtl="0" algn="just">
              <a:lnSpc>
                <a:spcPct val="150000"/>
              </a:lnSpc>
              <a:spcBef>
                <a:spcPts val="0"/>
              </a:spcBef>
              <a:spcAft>
                <a:spcPts val="0"/>
              </a:spcAft>
              <a:buSzPts val="2000"/>
              <a:buFont typeface="Arial"/>
              <a:buChar char="•"/>
            </a:pPr>
            <a:r>
              <a:rPr lang="en-US" sz="2000">
                <a:latin typeface="Times New Roman"/>
                <a:ea typeface="Times New Roman"/>
                <a:cs typeface="Times New Roman"/>
                <a:sym typeface="Times New Roman"/>
              </a:rPr>
              <a:t>Database : SQL (e.g., PostgreSQL/SQLite) (Storing the existing dataset and the resulting risk predictions.)</a:t>
            </a:r>
            <a:endParaRPr/>
          </a:p>
          <a:p>
            <a:pPr indent="-342900" lvl="0" marL="342900" rtl="0" algn="just">
              <a:lnSpc>
                <a:spcPct val="150000"/>
              </a:lnSpc>
              <a:spcBef>
                <a:spcPts val="0"/>
              </a:spcBef>
              <a:spcAft>
                <a:spcPts val="0"/>
              </a:spcAft>
              <a:buSzPts val="2000"/>
              <a:buFont typeface="Arial"/>
              <a:buChar char="•"/>
            </a:pPr>
            <a:r>
              <a:rPr lang="en-US" sz="2000">
                <a:latin typeface="Times New Roman"/>
                <a:ea typeface="Times New Roman"/>
                <a:cs typeface="Times New Roman"/>
                <a:sym typeface="Times New Roman"/>
              </a:rPr>
              <a:t>Frontend : HTML, CSS, JavaScript (Developing the basic web dashboard to visualize outcomes and alerts.)</a:t>
            </a:r>
            <a:endParaRPr sz="2000">
              <a:latin typeface="Times New Roman"/>
              <a:ea typeface="Times New Roman"/>
              <a:cs typeface="Times New Roman"/>
              <a:sym typeface="Times New Roman"/>
            </a:endParaRPr>
          </a:p>
          <a:p>
            <a:pPr indent="-342900" lvl="0" marL="342900" rtl="0" algn="just">
              <a:lnSpc>
                <a:spcPct val="15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Cloud Notification Services: AWS SNS - To send real time alerts .</a:t>
            </a:r>
            <a:endParaRPr sz="2000">
              <a:latin typeface="Times New Roman"/>
              <a:ea typeface="Times New Roman"/>
              <a:cs typeface="Times New Roman"/>
              <a:sym typeface="Times New Roman"/>
            </a:endParaRPr>
          </a:p>
          <a:p>
            <a:pPr indent="0" lvl="0" marL="457200" rtl="0" algn="l">
              <a:spcBef>
                <a:spcPts val="0"/>
              </a:spcBef>
              <a:spcAft>
                <a:spcPts val="0"/>
              </a:spcAft>
              <a:buNone/>
            </a:pPr>
            <a:r>
              <a:t/>
            </a:r>
            <a:endParaRPr sz="2000">
              <a:latin typeface="Times New Roman"/>
              <a:ea typeface="Times New Roman"/>
              <a:cs typeface="Times New Roman"/>
              <a:sym typeface="Times New Roman"/>
            </a:endParaRPr>
          </a:p>
        </p:txBody>
      </p:sp>
      <p:sp>
        <p:nvSpPr>
          <p:cNvPr id="130" name="Google Shape;130;p15"/>
          <p:cNvSpPr txBox="1"/>
          <p:nvPr/>
        </p:nvSpPr>
        <p:spPr>
          <a:xfrm>
            <a:off x="1066800" y="1297347"/>
            <a:ext cx="3831498" cy="40011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2000">
                <a:latin typeface="Times New Roman"/>
                <a:ea typeface="Times New Roman"/>
                <a:cs typeface="Times New Roman"/>
                <a:sym typeface="Times New Roman"/>
              </a:rPr>
              <a:t>SOFTWARE REQUIREMENTS</a:t>
            </a:r>
            <a:endParaRPr b="1" sz="20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txBox="1"/>
          <p:nvPr>
            <p:ph type="title"/>
          </p:nvPr>
        </p:nvSpPr>
        <p:spPr>
          <a:xfrm>
            <a:off x="1349700" y="326641"/>
            <a:ext cx="10254615" cy="492443"/>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US">
                <a:latin typeface="Cambria"/>
                <a:ea typeface="Cambria"/>
                <a:cs typeface="Cambria"/>
                <a:sym typeface="Cambria"/>
              </a:rPr>
              <a:t>SYSTEM DESIGN AND METHODOLOGY</a:t>
            </a:r>
            <a:endParaRPr b="1">
              <a:latin typeface="Cambria"/>
              <a:ea typeface="Cambria"/>
              <a:cs typeface="Cambria"/>
              <a:sym typeface="Cambria"/>
            </a:endParaRPr>
          </a:p>
        </p:txBody>
      </p:sp>
      <p:sp>
        <p:nvSpPr>
          <p:cNvPr id="136" name="Google Shape;136;p16"/>
          <p:cNvSpPr txBox="1"/>
          <p:nvPr>
            <p:ph idx="1" type="body"/>
          </p:nvPr>
        </p:nvSpPr>
        <p:spPr>
          <a:xfrm>
            <a:off x="902497" y="1295400"/>
            <a:ext cx="11148900" cy="49257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lang="en-US" sz="2000">
                <a:latin typeface="Times New Roman"/>
                <a:ea typeface="Times New Roman"/>
                <a:cs typeface="Times New Roman"/>
                <a:sym typeface="Times New Roman"/>
              </a:rPr>
              <a:t>The proposed system is designed to monitor water quality parameters and provide early warnings about potential water-borne disease outbreaks in rural areas. The system integrates IoT-based sensors, cloud storage, and data analytics to ensure continuous monitoring and timely alert generation. </a:t>
            </a:r>
            <a:endParaRPr sz="2000">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sz="2000">
              <a:latin typeface="Times New Roman"/>
              <a:ea typeface="Times New Roman"/>
              <a:cs typeface="Times New Roman"/>
              <a:sym typeface="Times New Roman"/>
            </a:endParaRPr>
          </a:p>
          <a:p>
            <a:pPr indent="-469900" lvl="0" marL="400050" rtl="0" algn="l">
              <a:lnSpc>
                <a:spcPct val="150000"/>
              </a:lnSpc>
              <a:spcBef>
                <a:spcPts val="0"/>
              </a:spcBef>
              <a:spcAft>
                <a:spcPts val="0"/>
              </a:spcAft>
              <a:buSzPts val="2000"/>
              <a:buFont typeface="Times New Roman"/>
              <a:buChar char="•"/>
            </a:pPr>
            <a:r>
              <a:rPr b="1" lang="en-US" sz="2000">
                <a:latin typeface="Times New Roman"/>
                <a:ea typeface="Times New Roman"/>
                <a:cs typeface="Times New Roman"/>
                <a:sym typeface="Times New Roman"/>
              </a:rPr>
              <a:t>Data Acquisition</a:t>
            </a:r>
            <a:r>
              <a:rPr lang="en-US" sz="2000">
                <a:latin typeface="Times New Roman"/>
                <a:ea typeface="Times New Roman"/>
                <a:cs typeface="Times New Roman"/>
                <a:sym typeface="Times New Roman"/>
              </a:rPr>
              <a:t>: Various sensors such as pH, turbidity, temperature, and TDS sensors are deployed at community water sources. These sensors continuously collect real-time data and send it to a microcontroller (Arduino) for processing.</a:t>
            </a:r>
            <a:endParaRPr sz="2000">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sz="2000">
              <a:latin typeface="Times New Roman"/>
              <a:ea typeface="Times New Roman"/>
              <a:cs typeface="Times New Roman"/>
              <a:sym typeface="Times New Roman"/>
            </a:endParaRPr>
          </a:p>
          <a:p>
            <a:pPr indent="-412750" lvl="0" marL="342900" rtl="0" algn="l">
              <a:lnSpc>
                <a:spcPct val="150000"/>
              </a:lnSpc>
              <a:spcBef>
                <a:spcPts val="0"/>
              </a:spcBef>
              <a:spcAft>
                <a:spcPts val="0"/>
              </a:spcAft>
              <a:buClr>
                <a:schemeClr val="dk1"/>
              </a:buClr>
              <a:buSzPts val="2000"/>
              <a:buChar char="•"/>
            </a:pPr>
            <a:r>
              <a:rPr b="1" lang="en-US" sz="2000">
                <a:latin typeface="Times New Roman"/>
                <a:ea typeface="Times New Roman"/>
                <a:cs typeface="Times New Roman"/>
                <a:sym typeface="Times New Roman"/>
              </a:rPr>
              <a:t>Data Analysis and Processing</a:t>
            </a:r>
            <a:r>
              <a:rPr lang="en-US" sz="2000">
                <a:latin typeface="Times New Roman"/>
                <a:ea typeface="Times New Roman"/>
                <a:cs typeface="Times New Roman"/>
                <a:sym typeface="Times New Roman"/>
              </a:rPr>
              <a:t>: The collected data is analyzed using predefined threshold values and machine learning models to detect anomalies that indicate possible contamination or disease risk. Visualization tools and dashboards help health officials monitor trends over time.</a:t>
            </a:r>
            <a:endParaRPr sz="2000">
              <a:latin typeface="Times New Roman"/>
              <a:ea typeface="Times New Roman"/>
              <a:cs typeface="Times New Roman"/>
              <a:sym typeface="Times New Roman"/>
            </a:endParaRPr>
          </a:p>
        </p:txBody>
      </p:sp>
      <p:sp>
        <p:nvSpPr>
          <p:cNvPr id="137" name="Google Shape;137;p16"/>
          <p:cNvSpPr txBox="1"/>
          <p:nvPr>
            <p:ph idx="10" type="dt"/>
          </p:nvPr>
        </p:nvSpPr>
        <p:spPr>
          <a:xfrm>
            <a:off x="179689" y="6441110"/>
            <a:ext cx="1124585" cy="436017"/>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25-04-2025</a:t>
            </a:r>
            <a:endParaRPr/>
          </a:p>
          <a:p>
            <a:pPr indent="0" lvl="0" marL="12700" rtl="0" algn="l">
              <a:lnSpc>
                <a:spcPct val="104000"/>
              </a:lnSpc>
              <a:spcBef>
                <a:spcPts val="0"/>
              </a:spcBef>
              <a:spcAft>
                <a:spcPts val="0"/>
              </a:spcAft>
              <a:buNone/>
            </a:pPr>
            <a:r>
              <a:t/>
            </a:r>
            <a:endParaRPr/>
          </a:p>
        </p:txBody>
      </p:sp>
      <p:sp>
        <p:nvSpPr>
          <p:cNvPr id="138" name="Google Shape;138;p16"/>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Department of Information Science &amp; Engineering</a:t>
            </a:r>
            <a:endParaRPr/>
          </a:p>
        </p:txBody>
      </p:sp>
      <p:sp>
        <p:nvSpPr>
          <p:cNvPr id="139" name="Google Shape;139;p16"/>
          <p:cNvSpPr txBox="1"/>
          <p:nvPr>
            <p:ph idx="12" type="sldNum"/>
          </p:nvPr>
        </p:nvSpPr>
        <p:spPr>
          <a:xfrm>
            <a:off x="11734800" y="6441110"/>
            <a:ext cx="315938" cy="218008"/>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7"/>
          <p:cNvSpPr txBox="1"/>
          <p:nvPr>
            <p:ph idx="1" type="body"/>
          </p:nvPr>
        </p:nvSpPr>
        <p:spPr>
          <a:xfrm>
            <a:off x="858850" y="1709875"/>
            <a:ext cx="10637700" cy="3078600"/>
          </a:xfrm>
          <a:prstGeom prst="rect">
            <a:avLst/>
          </a:prstGeom>
          <a:noFill/>
          <a:ln>
            <a:noFill/>
          </a:ln>
        </p:spPr>
        <p:txBody>
          <a:bodyPr anchorCtr="0" anchor="t" bIns="0" lIns="0" spcFirstLastPara="1" rIns="0" wrap="square" tIns="0">
            <a:spAutoFit/>
          </a:bodyPr>
          <a:lstStyle/>
          <a:p>
            <a:pPr indent="-355600" lvl="0" marL="342900" rtl="0" algn="l">
              <a:lnSpc>
                <a:spcPct val="150000"/>
              </a:lnSpc>
              <a:spcBef>
                <a:spcPts val="0"/>
              </a:spcBef>
              <a:spcAft>
                <a:spcPts val="0"/>
              </a:spcAft>
              <a:buClr>
                <a:schemeClr val="dk1"/>
              </a:buClr>
              <a:buSzPts val="2000"/>
              <a:buChar char="•"/>
            </a:pPr>
            <a:r>
              <a:rPr b="1" lang="en-US" sz="2000">
                <a:latin typeface="Times New Roman"/>
                <a:ea typeface="Times New Roman"/>
                <a:cs typeface="Times New Roman"/>
                <a:sym typeface="Times New Roman"/>
              </a:rPr>
              <a:t>Alert Generation and Reporting</a:t>
            </a:r>
            <a:r>
              <a:rPr lang="en-US" sz="2000">
                <a:latin typeface="Times New Roman"/>
                <a:ea typeface="Times New Roman"/>
                <a:cs typeface="Times New Roman"/>
                <a:sym typeface="Times New Roman"/>
              </a:rPr>
              <a:t>: When abnormal readings are detected, the system triggers alerts through SMS, mobile apps, or web dashboards to notify health authorities and community representatives.</a:t>
            </a:r>
            <a:endParaRPr sz="2000">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sz="2000">
              <a:latin typeface="Times New Roman"/>
              <a:ea typeface="Times New Roman"/>
              <a:cs typeface="Times New Roman"/>
              <a:sym typeface="Times New Roman"/>
            </a:endParaRPr>
          </a:p>
          <a:p>
            <a:pPr indent="-342900" lvl="0" marL="342900" rtl="0" algn="l">
              <a:lnSpc>
                <a:spcPct val="150000"/>
              </a:lnSpc>
              <a:spcBef>
                <a:spcPts val="0"/>
              </a:spcBef>
              <a:spcAft>
                <a:spcPts val="0"/>
              </a:spcAft>
              <a:buClr>
                <a:schemeClr val="dk1"/>
              </a:buClr>
              <a:buSzPts val="2000"/>
              <a:buFont typeface="Arial"/>
              <a:buChar char="•"/>
            </a:pPr>
            <a:r>
              <a:rPr b="1" lang="en-US" sz="2000">
                <a:latin typeface="Times New Roman"/>
                <a:ea typeface="Times New Roman"/>
                <a:cs typeface="Times New Roman"/>
                <a:sym typeface="Times New Roman"/>
              </a:rPr>
              <a:t>Community and Health Integration:</a:t>
            </a:r>
            <a:r>
              <a:rPr lang="en-US" sz="2000">
                <a:latin typeface="Times New Roman"/>
                <a:ea typeface="Times New Roman"/>
                <a:cs typeface="Times New Roman"/>
                <a:sym typeface="Times New Roman"/>
              </a:rPr>
              <a:t> The alerts and data insights can be shared with local health departments to initiate sanitation checks, water treatment, or medical interventions, forming an integrated health monitoring ecosystem.</a:t>
            </a:r>
            <a:endParaRPr sz="2000">
              <a:latin typeface="Times New Roman"/>
              <a:ea typeface="Times New Roman"/>
              <a:cs typeface="Times New Roman"/>
              <a:sym typeface="Times New Roman"/>
            </a:endParaRPr>
          </a:p>
        </p:txBody>
      </p:sp>
      <p:sp>
        <p:nvSpPr>
          <p:cNvPr id="145" name="Google Shape;145;p17"/>
          <p:cNvSpPr txBox="1"/>
          <p:nvPr>
            <p:ph idx="10" type="dt"/>
          </p:nvPr>
        </p:nvSpPr>
        <p:spPr>
          <a:xfrm>
            <a:off x="179689" y="6441110"/>
            <a:ext cx="1124585" cy="436017"/>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25-04-2025</a:t>
            </a:r>
            <a:endParaRPr/>
          </a:p>
          <a:p>
            <a:pPr indent="0" lvl="0" marL="12700" rtl="0" algn="l">
              <a:lnSpc>
                <a:spcPct val="104000"/>
              </a:lnSpc>
              <a:spcBef>
                <a:spcPts val="0"/>
              </a:spcBef>
              <a:spcAft>
                <a:spcPts val="0"/>
              </a:spcAft>
              <a:buNone/>
            </a:pPr>
            <a:r>
              <a:t/>
            </a:r>
            <a:endParaRPr/>
          </a:p>
        </p:txBody>
      </p:sp>
      <p:sp>
        <p:nvSpPr>
          <p:cNvPr id="146" name="Google Shape;146;p17"/>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Department of Information Science &amp; Engineering</a:t>
            </a:r>
            <a:endParaRPr/>
          </a:p>
        </p:txBody>
      </p:sp>
      <p:sp>
        <p:nvSpPr>
          <p:cNvPr id="147" name="Google Shape;147;p17"/>
          <p:cNvSpPr txBox="1"/>
          <p:nvPr>
            <p:ph idx="12" type="sldNum"/>
          </p:nvPr>
        </p:nvSpPr>
        <p:spPr>
          <a:xfrm>
            <a:off x="11734800" y="6441110"/>
            <a:ext cx="315938" cy="218008"/>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sp>
        <p:nvSpPr>
          <p:cNvPr id="148" name="Google Shape;148;p17"/>
          <p:cNvSpPr txBox="1"/>
          <p:nvPr>
            <p:ph type="title"/>
          </p:nvPr>
        </p:nvSpPr>
        <p:spPr>
          <a:xfrm>
            <a:off x="1349375" y="327025"/>
            <a:ext cx="10255250" cy="492443"/>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US">
                <a:latin typeface="Cambria"/>
                <a:ea typeface="Cambria"/>
                <a:cs typeface="Cambria"/>
                <a:sym typeface="Cambria"/>
              </a:rPr>
              <a:t>SYSTEM DESIGN AND METHODOLOGY CONTD.</a:t>
            </a:r>
            <a:endParaRPr b="1">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8"/>
          <p:cNvSpPr txBox="1"/>
          <p:nvPr>
            <p:ph type="title"/>
          </p:nvPr>
        </p:nvSpPr>
        <p:spPr>
          <a:xfrm>
            <a:off x="1349700" y="326641"/>
            <a:ext cx="10254600" cy="492600"/>
          </a:xfrm>
          <a:prstGeom prst="rect">
            <a:avLst/>
          </a:prstGeom>
        </p:spPr>
        <p:txBody>
          <a:bodyPr anchorCtr="0" anchor="t" bIns="0" lIns="0" spcFirstLastPara="1" rIns="0" wrap="square" tIns="0">
            <a:spAutoFit/>
          </a:bodyPr>
          <a:lstStyle/>
          <a:p>
            <a:pPr indent="0" lvl="0" marL="0" rtl="0" algn="ctr">
              <a:spcBef>
                <a:spcPts val="0"/>
              </a:spcBef>
              <a:spcAft>
                <a:spcPts val="0"/>
              </a:spcAft>
              <a:buClr>
                <a:schemeClr val="dk1"/>
              </a:buClr>
              <a:buFont typeface="Arial"/>
              <a:buNone/>
            </a:pPr>
            <a:r>
              <a:rPr b="1" lang="en-US">
                <a:latin typeface="Cambria"/>
                <a:ea typeface="Cambria"/>
                <a:cs typeface="Cambria"/>
                <a:sym typeface="Cambria"/>
              </a:rPr>
              <a:t>SYSTEM DESIGN AND METHODOLOGY CONTD.</a:t>
            </a:r>
            <a:endParaRPr/>
          </a:p>
        </p:txBody>
      </p:sp>
      <p:pic>
        <p:nvPicPr>
          <p:cNvPr id="155" name="Google Shape;155;p18"/>
          <p:cNvPicPr preferRelativeResize="0"/>
          <p:nvPr/>
        </p:nvPicPr>
        <p:blipFill>
          <a:blip r:embed="rId3">
            <a:alphaModFix/>
          </a:blip>
          <a:stretch>
            <a:fillRect/>
          </a:stretch>
        </p:blipFill>
        <p:spPr>
          <a:xfrm>
            <a:off x="3264875" y="1196925"/>
            <a:ext cx="5650524" cy="4355625"/>
          </a:xfrm>
          <a:prstGeom prst="rect">
            <a:avLst/>
          </a:prstGeom>
          <a:noFill/>
          <a:ln>
            <a:noFill/>
          </a:ln>
        </p:spPr>
      </p:pic>
      <p:sp>
        <p:nvSpPr>
          <p:cNvPr id="156" name="Google Shape;156;p18"/>
          <p:cNvSpPr txBox="1"/>
          <p:nvPr/>
        </p:nvSpPr>
        <p:spPr>
          <a:xfrm>
            <a:off x="3059725" y="5623550"/>
            <a:ext cx="5940000" cy="4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solidFill>
                  <a:schemeClr val="dk1"/>
                </a:solidFill>
                <a:latin typeface="Times"/>
                <a:ea typeface="Times"/>
                <a:cs typeface="Times"/>
                <a:sym typeface="Times"/>
              </a:rPr>
              <a:t>Fig - 1: </a:t>
            </a:r>
            <a:r>
              <a:rPr lang="en-US" sz="1200">
                <a:solidFill>
                  <a:schemeClr val="dk1"/>
                </a:solidFill>
                <a:latin typeface="Times New Roman"/>
                <a:ea typeface="Times New Roman"/>
                <a:cs typeface="Times New Roman"/>
                <a:sym typeface="Times New Roman"/>
              </a:rPr>
              <a:t>Data flow diagram level 0 of Smart Health Surveillance and Early Warning System</a:t>
            </a:r>
            <a:endParaRPr sz="12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en-US" sz="1200">
                <a:solidFill>
                  <a:schemeClr val="dk1"/>
                </a:solidFill>
                <a:latin typeface="Times"/>
                <a:ea typeface="Times"/>
                <a:cs typeface="Times"/>
                <a:sym typeface="Times"/>
              </a:rPr>
              <a:t> </a:t>
            </a:r>
            <a:endParaRPr sz="1200">
              <a:solidFill>
                <a:schemeClr val="dk1"/>
              </a:solidFill>
              <a:latin typeface="Times"/>
              <a:ea typeface="Times"/>
              <a:cs typeface="Times"/>
              <a:sym typeface="Times"/>
            </a:endParaRPr>
          </a:p>
        </p:txBody>
      </p:sp>
      <p:sp>
        <p:nvSpPr>
          <p:cNvPr id="157" name="Google Shape;157;p18"/>
          <p:cNvSpPr txBox="1"/>
          <p:nvPr>
            <p:ph idx="12" type="sldNum"/>
          </p:nvPr>
        </p:nvSpPr>
        <p:spPr>
          <a:xfrm>
            <a:off x="11604313" y="6441100"/>
            <a:ext cx="446700" cy="246300"/>
          </a:xfrm>
          <a:prstGeom prst="rect">
            <a:avLst/>
          </a:prstGeom>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a:p>
        </p:txBody>
      </p:sp>
      <p:sp>
        <p:nvSpPr>
          <p:cNvPr id="158" name="Google Shape;158;p18"/>
          <p:cNvSpPr txBox="1"/>
          <p:nvPr>
            <p:ph idx="11" type="ftr"/>
          </p:nvPr>
        </p:nvSpPr>
        <p:spPr>
          <a:xfrm>
            <a:off x="4074128" y="6441110"/>
            <a:ext cx="4680000" cy="246300"/>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Department of Information Science &amp; Engineering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ph type="title"/>
          </p:nvPr>
        </p:nvSpPr>
        <p:spPr>
          <a:xfrm>
            <a:off x="1349700" y="326641"/>
            <a:ext cx="10254600" cy="492600"/>
          </a:xfrm>
          <a:prstGeom prst="rect">
            <a:avLst/>
          </a:prstGeom>
        </p:spPr>
        <p:txBody>
          <a:bodyPr anchorCtr="0" anchor="t" bIns="0" lIns="0" spcFirstLastPara="1" rIns="0" wrap="square" tIns="0">
            <a:spAutoFit/>
          </a:bodyPr>
          <a:lstStyle/>
          <a:p>
            <a:pPr indent="0" lvl="0" marL="0" rtl="0" algn="ctr">
              <a:spcBef>
                <a:spcPts val="0"/>
              </a:spcBef>
              <a:spcAft>
                <a:spcPts val="0"/>
              </a:spcAft>
              <a:buClr>
                <a:schemeClr val="dk1"/>
              </a:buClr>
              <a:buSzPts val="1100"/>
              <a:buFont typeface="Arial"/>
              <a:buNone/>
            </a:pPr>
            <a:r>
              <a:rPr b="1" lang="en-US">
                <a:latin typeface="Cambria"/>
                <a:ea typeface="Cambria"/>
                <a:cs typeface="Cambria"/>
                <a:sym typeface="Cambria"/>
              </a:rPr>
              <a:t>SYSTEM DESIGN AND METHODOLOGY CONTD.</a:t>
            </a:r>
            <a:endParaRPr/>
          </a:p>
        </p:txBody>
      </p:sp>
      <p:pic>
        <p:nvPicPr>
          <p:cNvPr id="165" name="Google Shape;165;p19"/>
          <p:cNvPicPr preferRelativeResize="0"/>
          <p:nvPr/>
        </p:nvPicPr>
        <p:blipFill>
          <a:blip r:embed="rId3">
            <a:alphaModFix/>
          </a:blip>
          <a:stretch>
            <a:fillRect/>
          </a:stretch>
        </p:blipFill>
        <p:spPr>
          <a:xfrm>
            <a:off x="3175800" y="1228575"/>
            <a:ext cx="5660650" cy="4278925"/>
          </a:xfrm>
          <a:prstGeom prst="rect">
            <a:avLst/>
          </a:prstGeom>
          <a:noFill/>
          <a:ln>
            <a:noFill/>
          </a:ln>
        </p:spPr>
      </p:pic>
      <p:sp>
        <p:nvSpPr>
          <p:cNvPr id="166" name="Google Shape;166;p19"/>
          <p:cNvSpPr txBox="1"/>
          <p:nvPr/>
        </p:nvSpPr>
        <p:spPr>
          <a:xfrm>
            <a:off x="3059725" y="5623550"/>
            <a:ext cx="5940000" cy="4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solidFill>
                  <a:schemeClr val="dk1"/>
                </a:solidFill>
                <a:latin typeface="Times"/>
                <a:ea typeface="Times"/>
                <a:cs typeface="Times"/>
                <a:sym typeface="Times"/>
              </a:rPr>
              <a:t>Fig - 2: </a:t>
            </a:r>
            <a:r>
              <a:rPr lang="en-US" sz="1200">
                <a:solidFill>
                  <a:schemeClr val="dk1"/>
                </a:solidFill>
                <a:latin typeface="Times New Roman"/>
                <a:ea typeface="Times New Roman"/>
                <a:cs typeface="Times New Roman"/>
                <a:sym typeface="Times New Roman"/>
              </a:rPr>
              <a:t>Data flow diagram level 1 of Smart Health Surveillance and Early Warning System</a:t>
            </a:r>
            <a:endParaRPr sz="12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en-US" sz="1200">
                <a:solidFill>
                  <a:schemeClr val="dk1"/>
                </a:solidFill>
                <a:latin typeface="Times"/>
                <a:ea typeface="Times"/>
                <a:cs typeface="Times"/>
                <a:sym typeface="Times"/>
              </a:rPr>
              <a:t> </a:t>
            </a:r>
            <a:endParaRPr sz="1200">
              <a:solidFill>
                <a:schemeClr val="dk1"/>
              </a:solidFill>
              <a:latin typeface="Times"/>
              <a:ea typeface="Times"/>
              <a:cs typeface="Times"/>
              <a:sym typeface="Times"/>
            </a:endParaRPr>
          </a:p>
        </p:txBody>
      </p:sp>
      <p:sp>
        <p:nvSpPr>
          <p:cNvPr id="167" name="Google Shape;167;p19"/>
          <p:cNvSpPr txBox="1"/>
          <p:nvPr>
            <p:ph idx="12" type="sldNum"/>
          </p:nvPr>
        </p:nvSpPr>
        <p:spPr>
          <a:xfrm>
            <a:off x="11510919" y="6441100"/>
            <a:ext cx="540000" cy="246300"/>
          </a:xfrm>
          <a:prstGeom prst="rect">
            <a:avLst/>
          </a:prstGeom>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a:p>
        </p:txBody>
      </p:sp>
      <p:sp>
        <p:nvSpPr>
          <p:cNvPr id="168" name="Google Shape;168;p19"/>
          <p:cNvSpPr txBox="1"/>
          <p:nvPr/>
        </p:nvSpPr>
        <p:spPr>
          <a:xfrm>
            <a:off x="3840400" y="6348700"/>
            <a:ext cx="5359800" cy="431100"/>
          </a:xfrm>
          <a:prstGeom prst="rect">
            <a:avLst/>
          </a:prstGeom>
          <a:noFill/>
          <a:ln>
            <a:noFill/>
          </a:ln>
        </p:spPr>
        <p:txBody>
          <a:bodyPr anchorCtr="0" anchor="t" bIns="91425" lIns="91425" spcFirstLastPara="1" rIns="91425" wrap="square" tIns="91425">
            <a:spAutoFit/>
          </a:bodyPr>
          <a:lstStyle/>
          <a:p>
            <a:pPr indent="0" lvl="0" marL="12700" rtl="0" algn="l">
              <a:lnSpc>
                <a:spcPct val="104000"/>
              </a:lnSpc>
              <a:spcBef>
                <a:spcPts val="0"/>
              </a:spcBef>
              <a:spcAft>
                <a:spcPts val="0"/>
              </a:spcAft>
              <a:buNone/>
            </a:pPr>
            <a:r>
              <a:rPr b="1" lang="en-US" sz="1600">
                <a:solidFill>
                  <a:srgbClr val="888888"/>
                </a:solidFill>
                <a:latin typeface="Cambria"/>
                <a:ea typeface="Cambria"/>
                <a:cs typeface="Cambria"/>
                <a:sym typeface="Cambria"/>
              </a:rPr>
              <a:t>Department of Information Science &amp; Engineering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0"/>
          <p:cNvSpPr txBox="1"/>
          <p:nvPr>
            <p:ph idx="10" type="dt"/>
          </p:nvPr>
        </p:nvSpPr>
        <p:spPr>
          <a:xfrm>
            <a:off x="179689" y="6441110"/>
            <a:ext cx="1124585" cy="436017"/>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25-04-2025</a:t>
            </a:r>
            <a:endParaRPr/>
          </a:p>
          <a:p>
            <a:pPr indent="0" lvl="0" marL="12700" rtl="0" algn="l">
              <a:lnSpc>
                <a:spcPct val="104000"/>
              </a:lnSpc>
              <a:spcBef>
                <a:spcPts val="0"/>
              </a:spcBef>
              <a:spcAft>
                <a:spcPts val="0"/>
              </a:spcAft>
              <a:buNone/>
            </a:pPr>
            <a:r>
              <a:t/>
            </a:r>
            <a:endParaRPr/>
          </a:p>
        </p:txBody>
      </p:sp>
      <p:sp>
        <p:nvSpPr>
          <p:cNvPr id="174" name="Google Shape;174;p20"/>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Department of Information Science &amp; Engineering</a:t>
            </a:r>
            <a:endParaRPr/>
          </a:p>
        </p:txBody>
      </p:sp>
      <p:sp>
        <p:nvSpPr>
          <p:cNvPr id="175" name="Google Shape;175;p20"/>
          <p:cNvSpPr txBox="1"/>
          <p:nvPr>
            <p:ph idx="12" type="sldNum"/>
          </p:nvPr>
        </p:nvSpPr>
        <p:spPr>
          <a:xfrm>
            <a:off x="11734800" y="6441110"/>
            <a:ext cx="315938" cy="218008"/>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sp>
        <p:nvSpPr>
          <p:cNvPr id="176" name="Google Shape;176;p20"/>
          <p:cNvSpPr txBox="1"/>
          <p:nvPr>
            <p:ph type="title"/>
          </p:nvPr>
        </p:nvSpPr>
        <p:spPr>
          <a:xfrm>
            <a:off x="1349375" y="327025"/>
            <a:ext cx="10255250" cy="533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US">
                <a:latin typeface="Cambria"/>
                <a:ea typeface="Cambria"/>
                <a:cs typeface="Cambria"/>
                <a:sym typeface="Cambria"/>
              </a:rPr>
              <a:t>SYSTEM DESIGN AND METHODOLOGY CONTD.</a:t>
            </a:r>
            <a:endParaRPr b="1">
              <a:latin typeface="Cambria"/>
              <a:ea typeface="Cambria"/>
              <a:cs typeface="Cambria"/>
              <a:sym typeface="Cambria"/>
            </a:endParaRPr>
          </a:p>
        </p:txBody>
      </p:sp>
      <p:pic>
        <p:nvPicPr>
          <p:cNvPr id="177" name="Google Shape;177;p20"/>
          <p:cNvPicPr preferRelativeResize="0"/>
          <p:nvPr/>
        </p:nvPicPr>
        <p:blipFill rotWithShape="1">
          <a:blip r:embed="rId3">
            <a:alphaModFix/>
          </a:blip>
          <a:srcRect b="0" l="0" r="0" t="0"/>
          <a:stretch/>
        </p:blipFill>
        <p:spPr>
          <a:xfrm>
            <a:off x="2971800" y="1521321"/>
            <a:ext cx="6774497" cy="3927746"/>
          </a:xfrm>
          <a:prstGeom prst="rect">
            <a:avLst/>
          </a:prstGeom>
          <a:noFill/>
          <a:ln>
            <a:noFill/>
          </a:ln>
        </p:spPr>
      </p:pic>
      <p:sp>
        <p:nvSpPr>
          <p:cNvPr id="178" name="Google Shape;178;p20"/>
          <p:cNvSpPr txBox="1"/>
          <p:nvPr/>
        </p:nvSpPr>
        <p:spPr>
          <a:xfrm>
            <a:off x="3059725" y="5623550"/>
            <a:ext cx="5940000" cy="4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solidFill>
                  <a:schemeClr val="dk1"/>
                </a:solidFill>
                <a:latin typeface="Times"/>
                <a:ea typeface="Times"/>
                <a:cs typeface="Times"/>
                <a:sym typeface="Times"/>
              </a:rPr>
              <a:t>Fig - 3: </a:t>
            </a:r>
            <a:r>
              <a:rPr lang="en-US" sz="1200">
                <a:solidFill>
                  <a:schemeClr val="dk1"/>
                </a:solidFill>
                <a:latin typeface="Times New Roman"/>
                <a:ea typeface="Times New Roman"/>
                <a:cs typeface="Times New Roman"/>
                <a:sym typeface="Times New Roman"/>
              </a:rPr>
              <a:t>Use Case</a:t>
            </a:r>
            <a:r>
              <a:rPr lang="en-US" sz="1200">
                <a:solidFill>
                  <a:schemeClr val="dk1"/>
                </a:solidFill>
                <a:latin typeface="Times New Roman"/>
                <a:ea typeface="Times New Roman"/>
                <a:cs typeface="Times New Roman"/>
                <a:sym typeface="Times New Roman"/>
              </a:rPr>
              <a:t> diagram of Smart Health Surveillance and Early Warning System</a:t>
            </a:r>
            <a:endParaRPr sz="12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en-US" sz="1200">
                <a:solidFill>
                  <a:schemeClr val="dk1"/>
                </a:solidFill>
                <a:latin typeface="Times"/>
                <a:ea typeface="Times"/>
                <a:cs typeface="Times"/>
                <a:sym typeface="Times"/>
              </a:rPr>
              <a:t> </a:t>
            </a:r>
            <a:endParaRPr sz="1200">
              <a:solidFill>
                <a:schemeClr val="dk1"/>
              </a:solidFill>
              <a:latin typeface="Times"/>
              <a:ea typeface="Times"/>
              <a:cs typeface="Times"/>
              <a:sym typeface="Time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type="title"/>
          </p:nvPr>
        </p:nvSpPr>
        <p:spPr>
          <a:xfrm>
            <a:off x="1349375" y="327025"/>
            <a:ext cx="10255250" cy="533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US">
                <a:latin typeface="Cambria"/>
                <a:ea typeface="Cambria"/>
                <a:cs typeface="Cambria"/>
                <a:sym typeface="Cambria"/>
              </a:rPr>
              <a:t>SYSTEM DESIGN AND METHODOLOGY CONTD.</a:t>
            </a:r>
            <a:endParaRPr b="1">
              <a:latin typeface="Cambria"/>
              <a:ea typeface="Cambria"/>
              <a:cs typeface="Cambria"/>
              <a:sym typeface="Cambria"/>
            </a:endParaRPr>
          </a:p>
        </p:txBody>
      </p:sp>
      <p:sp>
        <p:nvSpPr>
          <p:cNvPr id="184" name="Google Shape;184;p21"/>
          <p:cNvSpPr txBox="1"/>
          <p:nvPr>
            <p:ph idx="10" type="dt"/>
          </p:nvPr>
        </p:nvSpPr>
        <p:spPr>
          <a:xfrm>
            <a:off x="179689" y="6441110"/>
            <a:ext cx="1124585" cy="436017"/>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25-04-2025</a:t>
            </a:r>
            <a:endParaRPr/>
          </a:p>
          <a:p>
            <a:pPr indent="0" lvl="0" marL="12700" rtl="0" algn="l">
              <a:lnSpc>
                <a:spcPct val="104000"/>
              </a:lnSpc>
              <a:spcBef>
                <a:spcPts val="0"/>
              </a:spcBef>
              <a:spcAft>
                <a:spcPts val="0"/>
              </a:spcAft>
              <a:buNone/>
            </a:pPr>
            <a:r>
              <a:t/>
            </a:r>
            <a:endParaRPr/>
          </a:p>
        </p:txBody>
      </p:sp>
      <p:sp>
        <p:nvSpPr>
          <p:cNvPr id="185" name="Google Shape;185;p21"/>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Department of Information Science &amp; Engineering</a:t>
            </a:r>
            <a:endParaRPr/>
          </a:p>
        </p:txBody>
      </p:sp>
      <p:sp>
        <p:nvSpPr>
          <p:cNvPr id="186" name="Google Shape;186;p21"/>
          <p:cNvSpPr txBox="1"/>
          <p:nvPr>
            <p:ph idx="12" type="sldNum"/>
          </p:nvPr>
        </p:nvSpPr>
        <p:spPr>
          <a:xfrm>
            <a:off x="11734800" y="6441110"/>
            <a:ext cx="315938" cy="218008"/>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sp>
        <p:nvSpPr>
          <p:cNvPr id="187" name="Google Shape;187;p21"/>
          <p:cNvSpPr txBox="1"/>
          <p:nvPr/>
        </p:nvSpPr>
        <p:spPr>
          <a:xfrm>
            <a:off x="3059725" y="5623550"/>
            <a:ext cx="5940000" cy="4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solidFill>
                  <a:schemeClr val="dk1"/>
                </a:solidFill>
                <a:latin typeface="Times"/>
                <a:ea typeface="Times"/>
                <a:cs typeface="Times"/>
                <a:sym typeface="Times"/>
              </a:rPr>
              <a:t>Fig - 4: </a:t>
            </a:r>
            <a:r>
              <a:rPr lang="en-US" sz="1200">
                <a:solidFill>
                  <a:schemeClr val="dk1"/>
                </a:solidFill>
                <a:latin typeface="Times New Roman"/>
                <a:ea typeface="Times New Roman"/>
                <a:cs typeface="Times New Roman"/>
                <a:sym typeface="Times New Roman"/>
              </a:rPr>
              <a:t>Sequence</a:t>
            </a:r>
            <a:r>
              <a:rPr lang="en-US" sz="1200">
                <a:solidFill>
                  <a:schemeClr val="dk1"/>
                </a:solidFill>
                <a:latin typeface="Times New Roman"/>
                <a:ea typeface="Times New Roman"/>
                <a:cs typeface="Times New Roman"/>
                <a:sym typeface="Times New Roman"/>
              </a:rPr>
              <a:t> diagram of Smart Health Surveillance and Early Warning System</a:t>
            </a:r>
            <a:endParaRPr sz="12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en-US" sz="1200">
                <a:solidFill>
                  <a:schemeClr val="dk1"/>
                </a:solidFill>
                <a:latin typeface="Times"/>
                <a:ea typeface="Times"/>
                <a:cs typeface="Times"/>
                <a:sym typeface="Times"/>
              </a:rPr>
              <a:t> </a:t>
            </a:r>
            <a:endParaRPr sz="1200">
              <a:solidFill>
                <a:schemeClr val="dk1"/>
              </a:solidFill>
              <a:latin typeface="Times"/>
              <a:ea typeface="Times"/>
              <a:cs typeface="Times"/>
              <a:sym typeface="Times"/>
            </a:endParaRPr>
          </a:p>
        </p:txBody>
      </p:sp>
      <p:pic>
        <p:nvPicPr>
          <p:cNvPr id="188" name="Google Shape;188;p21" title="IMG-20251130-WA0064.jpg"/>
          <p:cNvPicPr preferRelativeResize="0"/>
          <p:nvPr/>
        </p:nvPicPr>
        <p:blipFill>
          <a:blip r:embed="rId3">
            <a:alphaModFix/>
          </a:blip>
          <a:stretch>
            <a:fillRect/>
          </a:stretch>
        </p:blipFill>
        <p:spPr>
          <a:xfrm>
            <a:off x="1808875" y="1199850"/>
            <a:ext cx="9047876" cy="43435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type="title"/>
          </p:nvPr>
        </p:nvSpPr>
        <p:spPr>
          <a:xfrm>
            <a:off x="1349700" y="326641"/>
            <a:ext cx="10254615" cy="492443"/>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US">
                <a:latin typeface="Cambria"/>
                <a:ea typeface="Cambria"/>
                <a:cs typeface="Cambria"/>
                <a:sym typeface="Cambria"/>
              </a:rPr>
              <a:t>EXPECTED OUTCOMES</a:t>
            </a:r>
            <a:endParaRPr b="1">
              <a:latin typeface="Cambria"/>
              <a:ea typeface="Cambria"/>
              <a:cs typeface="Cambria"/>
              <a:sym typeface="Cambria"/>
            </a:endParaRPr>
          </a:p>
        </p:txBody>
      </p:sp>
      <p:sp>
        <p:nvSpPr>
          <p:cNvPr id="194" name="Google Shape;194;p22"/>
          <p:cNvSpPr txBox="1"/>
          <p:nvPr>
            <p:ph idx="1" type="body"/>
          </p:nvPr>
        </p:nvSpPr>
        <p:spPr>
          <a:xfrm>
            <a:off x="1143000" y="1428452"/>
            <a:ext cx="10461315" cy="4001095"/>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lang="en-US" sz="2000">
                <a:latin typeface="Times New Roman"/>
                <a:ea typeface="Times New Roman"/>
                <a:cs typeface="Times New Roman"/>
                <a:sym typeface="Times New Roman"/>
              </a:rPr>
              <a:t>The project will successfully deliver a fully functional Smart Early Warning System for rural areas, achieving the following core outcomes:</a:t>
            </a:r>
            <a:endParaRPr/>
          </a:p>
          <a:p>
            <a:pPr indent="-342900" lvl="0" marL="342900" rtl="0" algn="l">
              <a:lnSpc>
                <a:spcPct val="150000"/>
              </a:lnSpc>
              <a:spcBef>
                <a:spcPts val="0"/>
              </a:spcBef>
              <a:spcAft>
                <a:spcPts val="0"/>
              </a:spcAft>
              <a:buClr>
                <a:schemeClr val="dk1"/>
              </a:buClr>
              <a:buSzPts val="2000"/>
              <a:buFont typeface="Arial"/>
              <a:buChar char="•"/>
            </a:pPr>
            <a:r>
              <a:rPr lang="en-US" sz="2000">
                <a:latin typeface="Times New Roman"/>
                <a:ea typeface="Times New Roman"/>
                <a:cs typeface="Times New Roman"/>
                <a:sym typeface="Times New Roman"/>
              </a:rPr>
              <a:t>System Prototype: A deployed, low-cost IoT sensor module connected to a cloud-based dashboard for continuous water quality monitoring.</a:t>
            </a:r>
            <a:endParaRPr/>
          </a:p>
          <a:p>
            <a:pPr indent="-342900" lvl="0" marL="342900" rtl="0" algn="l">
              <a:lnSpc>
                <a:spcPct val="150000"/>
              </a:lnSpc>
              <a:spcBef>
                <a:spcPts val="0"/>
              </a:spcBef>
              <a:spcAft>
                <a:spcPts val="0"/>
              </a:spcAft>
              <a:buClr>
                <a:schemeClr val="dk1"/>
              </a:buClr>
              <a:buSzPts val="2000"/>
              <a:buFont typeface="Arial"/>
              <a:buChar char="•"/>
            </a:pPr>
            <a:r>
              <a:rPr lang="en-US" sz="2000">
                <a:latin typeface="Times New Roman"/>
                <a:ea typeface="Times New Roman"/>
                <a:cs typeface="Times New Roman"/>
                <a:sym typeface="Times New Roman"/>
              </a:rPr>
              <a:t>Rapid Contamination Detection: A working AI/ML algorithm that accurately detects water contamination risks and generates timely alerts to reduce response time from days to hours.</a:t>
            </a:r>
            <a:endParaRPr/>
          </a:p>
          <a:p>
            <a:pPr indent="-342900" lvl="0" marL="342900" rtl="0" algn="l">
              <a:lnSpc>
                <a:spcPct val="150000"/>
              </a:lnSpc>
              <a:spcBef>
                <a:spcPts val="0"/>
              </a:spcBef>
              <a:spcAft>
                <a:spcPts val="0"/>
              </a:spcAft>
              <a:buClr>
                <a:schemeClr val="dk1"/>
              </a:buClr>
              <a:buSzPts val="2000"/>
              <a:buFont typeface="Arial"/>
              <a:buChar char="•"/>
            </a:pPr>
            <a:r>
              <a:rPr lang="en-US" sz="2000">
                <a:latin typeface="Times New Roman"/>
                <a:ea typeface="Times New Roman"/>
                <a:cs typeface="Times New Roman"/>
                <a:sym typeface="Times New Roman"/>
              </a:rPr>
              <a:t>Public Health Improvement: The system enables fast, targeted interventions by health officials, leading to a demonstrable reduction in water-borne disease incidence in the pilot community.</a:t>
            </a:r>
            <a:endParaRPr/>
          </a:p>
          <a:p>
            <a:pPr indent="0" lvl="0" marL="0" rtl="0" algn="l">
              <a:spcBef>
                <a:spcPts val="0"/>
              </a:spcBef>
              <a:spcAft>
                <a:spcPts val="0"/>
              </a:spcAft>
              <a:buNone/>
            </a:pPr>
            <a:r>
              <a:t/>
            </a:r>
            <a:endParaRPr sz="2000">
              <a:latin typeface="Times New Roman"/>
              <a:ea typeface="Times New Roman"/>
              <a:cs typeface="Times New Roman"/>
              <a:sym typeface="Times New Roman"/>
            </a:endParaRPr>
          </a:p>
        </p:txBody>
      </p:sp>
      <p:sp>
        <p:nvSpPr>
          <p:cNvPr id="195" name="Google Shape;195;p22"/>
          <p:cNvSpPr txBox="1"/>
          <p:nvPr>
            <p:ph idx="10" type="dt"/>
          </p:nvPr>
        </p:nvSpPr>
        <p:spPr>
          <a:xfrm>
            <a:off x="179689" y="6441110"/>
            <a:ext cx="1124585" cy="436017"/>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25-04-2025</a:t>
            </a:r>
            <a:endParaRPr/>
          </a:p>
          <a:p>
            <a:pPr indent="0" lvl="0" marL="12700" rtl="0" algn="l">
              <a:lnSpc>
                <a:spcPct val="104000"/>
              </a:lnSpc>
              <a:spcBef>
                <a:spcPts val="0"/>
              </a:spcBef>
              <a:spcAft>
                <a:spcPts val="0"/>
              </a:spcAft>
              <a:buNone/>
            </a:pPr>
            <a:r>
              <a:t/>
            </a:r>
            <a:endParaRPr/>
          </a:p>
        </p:txBody>
      </p:sp>
      <p:sp>
        <p:nvSpPr>
          <p:cNvPr id="196" name="Google Shape;196;p22"/>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Department of Information Science &amp; Engineering</a:t>
            </a:r>
            <a:endParaRPr/>
          </a:p>
        </p:txBody>
      </p:sp>
      <p:sp>
        <p:nvSpPr>
          <p:cNvPr id="197" name="Google Shape;197;p22"/>
          <p:cNvSpPr txBox="1"/>
          <p:nvPr>
            <p:ph idx="12" type="sldNum"/>
          </p:nvPr>
        </p:nvSpPr>
        <p:spPr>
          <a:xfrm>
            <a:off x="11734800" y="6441110"/>
            <a:ext cx="315938" cy="218008"/>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3"/>
          <p:cNvSpPr txBox="1"/>
          <p:nvPr>
            <p:ph type="title"/>
          </p:nvPr>
        </p:nvSpPr>
        <p:spPr>
          <a:xfrm>
            <a:off x="1349700" y="326641"/>
            <a:ext cx="10254615" cy="492443"/>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US">
                <a:latin typeface="Cambria"/>
                <a:ea typeface="Cambria"/>
                <a:cs typeface="Cambria"/>
                <a:sym typeface="Cambria"/>
              </a:rPr>
              <a:t>REFERENCES</a:t>
            </a:r>
            <a:endParaRPr b="1">
              <a:latin typeface="Cambria"/>
              <a:ea typeface="Cambria"/>
              <a:cs typeface="Cambria"/>
              <a:sym typeface="Cambria"/>
            </a:endParaRPr>
          </a:p>
        </p:txBody>
      </p:sp>
      <p:sp>
        <p:nvSpPr>
          <p:cNvPr id="203" name="Google Shape;203;p23"/>
          <p:cNvSpPr txBox="1"/>
          <p:nvPr>
            <p:ph idx="10" type="dt"/>
          </p:nvPr>
        </p:nvSpPr>
        <p:spPr>
          <a:xfrm>
            <a:off x="179689" y="6441110"/>
            <a:ext cx="1124585" cy="436017"/>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25-04-2025</a:t>
            </a:r>
            <a:endParaRPr/>
          </a:p>
          <a:p>
            <a:pPr indent="0" lvl="0" marL="12700" rtl="0" algn="l">
              <a:lnSpc>
                <a:spcPct val="104000"/>
              </a:lnSpc>
              <a:spcBef>
                <a:spcPts val="0"/>
              </a:spcBef>
              <a:spcAft>
                <a:spcPts val="0"/>
              </a:spcAft>
              <a:buNone/>
            </a:pPr>
            <a:r>
              <a:t/>
            </a:r>
            <a:endParaRPr/>
          </a:p>
        </p:txBody>
      </p:sp>
      <p:sp>
        <p:nvSpPr>
          <p:cNvPr id="204" name="Google Shape;204;p23"/>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Department of Information Science &amp; Engineering</a:t>
            </a:r>
            <a:endParaRPr/>
          </a:p>
        </p:txBody>
      </p:sp>
      <p:sp>
        <p:nvSpPr>
          <p:cNvPr id="205" name="Google Shape;205;p23"/>
          <p:cNvSpPr txBox="1"/>
          <p:nvPr>
            <p:ph idx="12" type="sldNum"/>
          </p:nvPr>
        </p:nvSpPr>
        <p:spPr>
          <a:xfrm>
            <a:off x="11734800" y="6441110"/>
            <a:ext cx="315938" cy="218008"/>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sp>
        <p:nvSpPr>
          <p:cNvPr id="206" name="Google Shape;206;p23"/>
          <p:cNvSpPr txBox="1"/>
          <p:nvPr>
            <p:ph idx="1" type="body"/>
          </p:nvPr>
        </p:nvSpPr>
        <p:spPr>
          <a:xfrm>
            <a:off x="1042003" y="1068627"/>
            <a:ext cx="10744200" cy="5122941"/>
          </a:xfrm>
          <a:prstGeom prst="rect">
            <a:avLst/>
          </a:prstGeom>
          <a:noFill/>
          <a:ln>
            <a:noFill/>
          </a:ln>
        </p:spPr>
        <p:txBody>
          <a:bodyPr anchorCtr="0" anchor="ctr"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2000"/>
              <a:buFont typeface="Calibri"/>
              <a:buAutoNum type="arabicPeriod"/>
            </a:pPr>
            <a:r>
              <a:rPr b="0" i="0" lang="en-US" sz="2000" u="none" cap="none" strike="noStrike">
                <a:solidFill>
                  <a:schemeClr val="dk1"/>
                </a:solidFill>
                <a:latin typeface="Times New Roman"/>
                <a:ea typeface="Times New Roman"/>
                <a:cs typeface="Times New Roman"/>
                <a:sym typeface="Times New Roman"/>
              </a:rPr>
              <a:t>M. Hussain et al., "Machine learning based efficient prediction of positive cases of waterborne diseases," </a:t>
            </a:r>
            <a:r>
              <a:rPr b="0" i="1" lang="en-US" sz="2000" u="none" cap="none" strike="noStrike">
                <a:solidFill>
                  <a:schemeClr val="dk1"/>
                </a:solidFill>
                <a:latin typeface="Times New Roman"/>
                <a:ea typeface="Times New Roman"/>
                <a:cs typeface="Times New Roman"/>
                <a:sym typeface="Times New Roman"/>
              </a:rPr>
              <a:t>BMC Med. Inform. Decis. Mak.</a:t>
            </a:r>
            <a:r>
              <a:rPr b="0" i="0" lang="en-US" sz="2000" u="none" cap="none" strike="noStrike">
                <a:solidFill>
                  <a:schemeClr val="dk1"/>
                </a:solidFill>
                <a:latin typeface="Times New Roman"/>
                <a:ea typeface="Times New Roman"/>
                <a:cs typeface="Times New Roman"/>
                <a:sym typeface="Times New Roman"/>
              </a:rPr>
              <a:t>, vol. 23, no. 1, p. 11, Jan. 2023.</a:t>
            </a:r>
            <a:endParaRPr/>
          </a:p>
          <a:p>
            <a:pPr indent="-457200" lvl="0" marL="457200" marR="0" rtl="0" algn="l">
              <a:lnSpc>
                <a:spcPct val="150000"/>
              </a:lnSpc>
              <a:spcBef>
                <a:spcPts val="0"/>
              </a:spcBef>
              <a:spcAft>
                <a:spcPts val="0"/>
              </a:spcAft>
              <a:buClr>
                <a:schemeClr val="dk1"/>
              </a:buClr>
              <a:buSzPts val="2000"/>
              <a:buFont typeface="Calibri"/>
              <a:buAutoNum type="arabicPeriod"/>
            </a:pPr>
            <a:r>
              <a:rPr b="0" i="0" lang="en-US" sz="2000" u="none" cap="none" strike="noStrike">
                <a:solidFill>
                  <a:schemeClr val="dk1"/>
                </a:solidFill>
                <a:latin typeface="Times New Roman"/>
                <a:ea typeface="Times New Roman"/>
                <a:cs typeface="Times New Roman"/>
                <a:sym typeface="Times New Roman"/>
              </a:rPr>
              <a:t>M. K. Nallakaruppan et al., "Reliable water quality prediction and parametric analysis using explainable AI models," </a:t>
            </a:r>
            <a:r>
              <a:rPr b="0" i="1" lang="en-US" sz="2000" u="none" cap="none" strike="noStrike">
                <a:solidFill>
                  <a:schemeClr val="dk1"/>
                </a:solidFill>
                <a:latin typeface="Times New Roman"/>
                <a:ea typeface="Times New Roman"/>
                <a:cs typeface="Times New Roman"/>
                <a:sym typeface="Times New Roman"/>
              </a:rPr>
              <a:t>Sci. Rep.</a:t>
            </a:r>
            <a:r>
              <a:rPr b="0" i="0" lang="en-US" sz="2000" u="none" cap="none" strike="noStrike">
                <a:solidFill>
                  <a:schemeClr val="dk1"/>
                </a:solidFill>
                <a:latin typeface="Times New Roman"/>
                <a:ea typeface="Times New Roman"/>
                <a:cs typeface="Times New Roman"/>
                <a:sym typeface="Times New Roman"/>
              </a:rPr>
              <a:t>, vol. 14, no. 1, p. 7520, Mar. 2024.</a:t>
            </a:r>
            <a:endParaRPr/>
          </a:p>
          <a:p>
            <a:pPr indent="-457200" lvl="0" marL="457200" marR="0" rtl="0" algn="l">
              <a:lnSpc>
                <a:spcPct val="150000"/>
              </a:lnSpc>
              <a:spcBef>
                <a:spcPts val="0"/>
              </a:spcBef>
              <a:spcAft>
                <a:spcPts val="0"/>
              </a:spcAft>
              <a:buClr>
                <a:schemeClr val="dk1"/>
              </a:buClr>
              <a:buSzPts val="2000"/>
              <a:buFont typeface="Calibri"/>
              <a:buAutoNum type="arabicPeriod"/>
            </a:pPr>
            <a:r>
              <a:rPr b="0" i="0" lang="en-US" sz="2000" u="none" cap="none" strike="noStrike">
                <a:solidFill>
                  <a:schemeClr val="dk1"/>
                </a:solidFill>
                <a:latin typeface="Times New Roman"/>
                <a:ea typeface="Times New Roman"/>
                <a:cs typeface="Times New Roman"/>
                <a:sym typeface="Times New Roman"/>
              </a:rPr>
              <a:t>T. I. Chinebu et al., "Smart waterborne disease control for a scalable population using biodynamic model in IoT network," </a:t>
            </a:r>
            <a:r>
              <a:rPr b="0" i="1" lang="en-US" sz="2000" u="none" cap="none" strike="noStrike">
                <a:solidFill>
                  <a:schemeClr val="dk1"/>
                </a:solidFill>
                <a:latin typeface="Times New Roman"/>
                <a:ea typeface="Times New Roman"/>
                <a:cs typeface="Times New Roman"/>
                <a:sym typeface="Times New Roman"/>
              </a:rPr>
              <a:t>Comput. Biol. Med.</a:t>
            </a:r>
            <a:r>
              <a:rPr b="0" i="0" lang="en-US" sz="2000" u="none" cap="none" strike="noStrike">
                <a:solidFill>
                  <a:schemeClr val="dk1"/>
                </a:solidFill>
                <a:latin typeface="Times New Roman"/>
                <a:ea typeface="Times New Roman"/>
                <a:cs typeface="Times New Roman"/>
                <a:sym typeface="Times New Roman"/>
              </a:rPr>
              <a:t>, vol. 181, p. 109034, Oct. 2024.</a:t>
            </a:r>
            <a:endParaRPr/>
          </a:p>
          <a:p>
            <a:pPr indent="-457200" lvl="0" marL="457200" marR="0" rtl="0" algn="l">
              <a:lnSpc>
                <a:spcPct val="150000"/>
              </a:lnSpc>
              <a:spcBef>
                <a:spcPts val="0"/>
              </a:spcBef>
              <a:spcAft>
                <a:spcPts val="0"/>
              </a:spcAft>
              <a:buClr>
                <a:schemeClr val="dk1"/>
              </a:buClr>
              <a:buSzPts val="2000"/>
              <a:buFont typeface="Calibri"/>
              <a:buAutoNum type="arabicPeriod"/>
            </a:pPr>
            <a:r>
              <a:rPr b="0" i="0" lang="en-US" sz="2000" u="none" cap="none" strike="noStrike">
                <a:solidFill>
                  <a:schemeClr val="dk1"/>
                </a:solidFill>
                <a:latin typeface="Times New Roman"/>
                <a:ea typeface="Times New Roman"/>
                <a:cs typeface="Times New Roman"/>
                <a:sym typeface="Times New Roman"/>
              </a:rPr>
              <a:t>S. Mangal et al., "Technology Empowerment of ASHA Workers Using E-Health Initiatives in Rural Rajasthan," </a:t>
            </a:r>
            <a:r>
              <a:rPr b="0" i="1" lang="en-US" sz="2000" u="none" cap="none" strike="noStrike">
                <a:solidFill>
                  <a:schemeClr val="dk1"/>
                </a:solidFill>
                <a:latin typeface="Times New Roman"/>
                <a:ea typeface="Times New Roman"/>
                <a:cs typeface="Times New Roman"/>
                <a:sym typeface="Times New Roman"/>
              </a:rPr>
              <a:t>Healthline</a:t>
            </a:r>
            <a:r>
              <a:rPr b="0" i="0" lang="en-US" sz="2000" u="none" cap="none" strike="noStrike">
                <a:solidFill>
                  <a:schemeClr val="dk1"/>
                </a:solidFill>
                <a:latin typeface="Times New Roman"/>
                <a:ea typeface="Times New Roman"/>
                <a:cs typeface="Times New Roman"/>
                <a:sym typeface="Times New Roman"/>
              </a:rPr>
              <a:t>, vol. 14, no. 4, pp. 276-281, Dec. 2023.</a:t>
            </a:r>
            <a:endParaRPr/>
          </a:p>
          <a:p>
            <a:pPr indent="-457200" lvl="0" marL="457200" marR="0" rtl="0" algn="l">
              <a:lnSpc>
                <a:spcPct val="150000"/>
              </a:lnSpc>
              <a:spcBef>
                <a:spcPts val="0"/>
              </a:spcBef>
              <a:spcAft>
                <a:spcPts val="0"/>
              </a:spcAft>
              <a:buClr>
                <a:schemeClr val="dk1"/>
              </a:buClr>
              <a:buSzPts val="2000"/>
              <a:buFont typeface="Calibri"/>
              <a:buAutoNum type="arabicPeriod"/>
            </a:pPr>
            <a:r>
              <a:rPr b="0" i="0" lang="en-US" sz="2000" u="none" cap="none" strike="noStrike">
                <a:solidFill>
                  <a:schemeClr val="dk1"/>
                </a:solidFill>
                <a:latin typeface="Times New Roman"/>
                <a:ea typeface="Times New Roman"/>
                <a:cs typeface="Times New Roman"/>
                <a:sym typeface="Times New Roman"/>
              </a:rPr>
              <a:t>V. Albert et al., "Surveillance of Food and Waterborne Pathogens in North-East India: Protocol for a Laboratory-Based Sentinel Surveillance Study," </a:t>
            </a:r>
            <a:r>
              <a:rPr b="0" i="1" lang="en-US" sz="2000" u="none" cap="none" strike="noStrike">
                <a:solidFill>
                  <a:schemeClr val="dk1"/>
                </a:solidFill>
                <a:latin typeface="Times New Roman"/>
                <a:ea typeface="Times New Roman"/>
                <a:cs typeface="Times New Roman"/>
                <a:sym typeface="Times New Roman"/>
              </a:rPr>
              <a:t>JMIR Res. Protoc.</a:t>
            </a:r>
            <a:r>
              <a:rPr b="0" i="0" lang="en-US" sz="2000" u="none" cap="none" strike="noStrike">
                <a:solidFill>
                  <a:schemeClr val="dk1"/>
                </a:solidFill>
                <a:latin typeface="Times New Roman"/>
                <a:ea typeface="Times New Roman"/>
                <a:cs typeface="Times New Roman"/>
                <a:sym typeface="Times New Roman"/>
              </a:rPr>
              <a:t>, vol. 13, no. 2, p. e56469, Oct. 2024.</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4"/>
          <p:cNvSpPr txBox="1"/>
          <p:nvPr>
            <p:ph type="title"/>
          </p:nvPr>
        </p:nvSpPr>
        <p:spPr>
          <a:xfrm>
            <a:off x="3983844" y="2868324"/>
            <a:ext cx="3281679" cy="635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4000">
                <a:solidFill>
                  <a:srgbClr val="000000"/>
                </a:solidFill>
                <a:latin typeface="Palatino Linotype"/>
                <a:ea typeface="Palatino Linotype"/>
                <a:cs typeface="Palatino Linotype"/>
                <a:sym typeface="Palatino Linotype"/>
              </a:rPr>
              <a:t>THANK YOU</a:t>
            </a:r>
            <a:endParaRPr sz="4000">
              <a:latin typeface="Palatino Linotype"/>
              <a:ea typeface="Palatino Linotype"/>
              <a:cs typeface="Palatino Linotype"/>
              <a:sym typeface="Palatino Linotype"/>
            </a:endParaRPr>
          </a:p>
        </p:txBody>
      </p:sp>
      <p:sp>
        <p:nvSpPr>
          <p:cNvPr id="212" name="Google Shape;212;p24"/>
          <p:cNvSpPr txBox="1"/>
          <p:nvPr>
            <p:ph idx="10" type="dt"/>
          </p:nvPr>
        </p:nvSpPr>
        <p:spPr>
          <a:xfrm>
            <a:off x="179689" y="6441110"/>
            <a:ext cx="1124585" cy="218008"/>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25-04-2025</a:t>
            </a:r>
            <a:endParaRPr/>
          </a:p>
        </p:txBody>
      </p:sp>
      <p:sp>
        <p:nvSpPr>
          <p:cNvPr id="213" name="Google Shape;213;p24"/>
          <p:cNvSpPr txBox="1"/>
          <p:nvPr>
            <p:ph idx="11" type="ftr"/>
          </p:nvPr>
        </p:nvSpPr>
        <p:spPr>
          <a:xfrm>
            <a:off x="4074128" y="6441110"/>
            <a:ext cx="4679950" cy="229234"/>
          </a:xfrm>
          <a:prstGeom prst="rect">
            <a:avLst/>
          </a:prstGeom>
          <a:noFill/>
          <a:ln>
            <a:noFill/>
          </a:ln>
        </p:spPr>
        <p:txBody>
          <a:bodyPr anchorCtr="0" anchor="t" bIns="0" lIns="0" spcFirstLastPara="1" rIns="0" wrap="square" tIns="0">
            <a:spAutoFit/>
          </a:bodyPr>
          <a:lstStyle/>
          <a:p>
            <a:pPr indent="0" lvl="0" marL="12700" rtl="0" algn="l">
              <a:lnSpc>
                <a:spcPct val="104000"/>
              </a:lnSpc>
              <a:spcBef>
                <a:spcPts val="0"/>
              </a:spcBef>
              <a:spcAft>
                <a:spcPts val="0"/>
              </a:spcAft>
              <a:buNone/>
            </a:pPr>
            <a:r>
              <a:rPr lang="en-US"/>
              <a:t>Department of Information Science &amp; Engineering</a:t>
            </a:r>
            <a:endParaRPr/>
          </a:p>
        </p:txBody>
      </p:sp>
      <p:sp>
        <p:nvSpPr>
          <p:cNvPr id="214" name="Google Shape;214;p24"/>
          <p:cNvSpPr txBox="1"/>
          <p:nvPr>
            <p:ph idx="12" type="sldNum"/>
          </p:nvPr>
        </p:nvSpPr>
        <p:spPr>
          <a:xfrm>
            <a:off x="11608305" y="6452336"/>
            <a:ext cx="808012" cy="218008"/>
          </a:xfrm>
          <a:prstGeom prst="rect">
            <a:avLst/>
          </a:prstGeom>
          <a:noFill/>
          <a:ln>
            <a:noFill/>
          </a:ln>
        </p:spPr>
        <p:txBody>
          <a:bodyPr anchorCtr="0" anchor="t" bIns="0" lIns="0" spcFirstLastPara="1" rIns="0" wrap="square" tIns="0">
            <a:spAutoFit/>
          </a:bodyPr>
          <a:lstStyle/>
          <a:p>
            <a:pPr indent="0" lvl="0" marL="38100" rtl="0" algn="l">
              <a:lnSpc>
                <a:spcPct val="104000"/>
              </a:lnSpc>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